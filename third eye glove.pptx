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8" r:id="rId2"/>
    <p:sldId id="259" r:id="rId3"/>
    <p:sldId id="260" r:id="rId4"/>
    <p:sldId id="261" r:id="rId5"/>
    <p:sldId id="266" r:id="rId6"/>
    <p:sldId id="262" r:id="rId7"/>
    <p:sldId id="265" r:id="rId8"/>
    <p:sldId id="267" r:id="rId9"/>
    <p:sldId id="268" r:id="rId10"/>
    <p:sldId id="263" r:id="rId11"/>
    <p:sldId id="264" r:id="rId12"/>
    <p:sldId id="269" r:id="rId13"/>
    <p:sldId id="270" r:id="rId14"/>
    <p:sldId id="271" r:id="rId15"/>
    <p:sldId id="272" r:id="rId16"/>
    <p:sldId id="278" r:id="rId17"/>
    <p:sldId id="273" r:id="rId18"/>
    <p:sldId id="274" r:id="rId19"/>
    <p:sldId id="275" r:id="rId20"/>
    <p:sldId id="277" r:id="rId21"/>
    <p:sldId id="280" r:id="rId22"/>
    <p:sldId id="279" r:id="rId23"/>
    <p:sldId id="276" r:id="rId24"/>
    <p:sldId id="28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D1"/>
    <a:srgbClr val="2AC2F2"/>
    <a:srgbClr val="00B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869" autoAdjust="0"/>
  </p:normalViewPr>
  <p:slideViewPr>
    <p:cSldViewPr snapToGrid="0">
      <p:cViewPr varScale="1">
        <p:scale>
          <a:sx n="81" d="100"/>
          <a:sy n="81" d="100"/>
        </p:scale>
        <p:origin x="7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92C98F-3B7E-4992-A98D-73018EFE40BE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802457-BDF2-44D9-8BAE-59EB2F6621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264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802457-BDF2-44D9-8BAE-59EB2F66212A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665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4EF64-A253-F6F4-04DC-F42AD0F8E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F6917D-935F-911F-BF25-01FC517F91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5F947-2E64-4584-55A6-1FAF2F877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0920-8222-4192-B45E-FA887A099F33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74E4C-7799-92BC-C2D6-EBF809C85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67050-EC84-15F0-30B3-A9B275B01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DD81C-450C-4740-98CC-B4F961A14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81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19FDA-615B-9BF1-F4AA-D8AD57744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67F01-91DE-8452-B8B1-4759C744D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A2252-6714-B1D1-3B36-9C9D84B0D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0920-8222-4192-B45E-FA887A099F33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66595-92CC-02DD-3756-FF5AEC17C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02C52-C183-02DA-C7DA-48B3265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DD81C-450C-4740-98CC-B4F961A14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498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1B696-6E0E-FC89-3F8E-F64C7F862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D73A9-4D14-AAD7-D77B-C66FF3419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47AB9-CAEB-3AE9-0CDB-56FF3D8F8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0920-8222-4192-B45E-FA887A099F33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9A198-D7B6-88E9-0063-D44298D50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E0F72-A910-DDDD-427A-DF9609A86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DD81C-450C-4740-98CC-B4F961A14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703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24883-9D4D-9F76-7DC6-9D407836A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88ECD-BBD7-9A95-3DF6-F2FDA18CC2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A0AFA8-F218-43B0-2646-497F4EE0B6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E8A64-95A0-1CD0-97A1-CA893188F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0920-8222-4192-B45E-FA887A099F33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53ED8-CDC0-00A5-1994-67C9E7D0C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854E7-6453-91B7-0DB8-27D89AE08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DD81C-450C-4740-98CC-B4F961A14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945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3C001-95E4-0781-5B85-3E722F1B4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B8F7D-DDF6-6D89-6199-49E177C5D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E1BC8-CED0-FFE5-E1BE-0782F18147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F6F261-6851-1242-C744-11D3F51817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724ED2-124B-1F2B-6F7C-12CB3A209F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9BA64A-982D-1959-4ACD-DBBEF7FF9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0920-8222-4192-B45E-FA887A099F33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94DE76-4539-39B0-6765-50B5E187D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45412D-F60E-A612-293E-137D4B809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DD81C-450C-4740-98CC-B4F961A14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45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AFE8C-715A-A996-D434-2DE759218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BB6B01-F61A-2532-1182-F20EFEBD3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0920-8222-4192-B45E-FA887A099F33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389D37-A3A7-2842-860E-8B6CF43DD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168B76-1101-C124-1C8F-E4A52B40F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DD81C-450C-4740-98CC-B4F961A14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640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17B211-241A-01E0-5037-ED80AFFE4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0920-8222-4192-B45E-FA887A099F33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208D12-E642-B38B-D550-B301D51DD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8CE70-B90B-7D7D-2212-59198442C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DD81C-450C-4740-98CC-B4F961A14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472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AD05C-FDB8-E392-0EE3-79110442F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D57E4-98A7-8424-D01D-C3D9421EE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A636F8-05DF-A84C-D060-AAC865AD3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5E8206-6BEA-81AB-EA2E-F4E8AE93C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0920-8222-4192-B45E-FA887A099F33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5875B-EF6D-08EB-A2F8-8037436E7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6FFD3-6D1B-A2D1-B1AE-905809B42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DD81C-450C-4740-98CC-B4F961A14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595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1C2AB-7655-80E3-3C51-86EE91AD4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4DDF98-49D1-31A0-BA12-308F0CA9B8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816E64-A6B4-7250-93BD-5753E51B6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7315AE-B6B8-8141-955C-295028A30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0920-8222-4192-B45E-FA887A099F33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7E5F7-FE8F-4C2D-DFB5-90439F8A7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3A1A9-FABF-E221-B57F-C1A04E3D8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DD81C-450C-4740-98CC-B4F961A14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399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27AEE-5052-8F86-4399-7AFF39B7E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328829-6D9F-3050-F924-EAF29939C9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03790-9872-BCBA-3F40-450B2A5DD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0920-8222-4192-B45E-FA887A099F33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23C5E-FBDC-B3A1-DAA4-AAB870598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3ADD2-9674-379C-AAC8-A2CF589BD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DD81C-450C-4740-98CC-B4F961A14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866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5EB2F4-9CD1-589D-E438-BFFDF8DA78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3806A8-FB28-3578-3D2F-279FB359EE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CD42C-4ED6-6EFA-F93A-99ED5EAAE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0920-8222-4192-B45E-FA887A099F33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5A36E-8FA1-4BB6-A967-A8F18E71E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136B6-1A1F-1AB2-AFAB-035FF2588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DD81C-450C-4740-98CC-B4F961A14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726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A8B40C-F76C-AA05-DD40-A12C26A82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5AD9F-A963-818F-F0F7-744456E8C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F81F1-1DDA-DB61-E29E-44B43C5B26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2D0920-8222-4192-B45E-FA887A099F33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DB9F2-3C96-BA3E-6335-272F09B6FE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97669-8B93-F7D2-BA23-F23F7D32B8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1DD81C-450C-4740-98CC-B4F961A141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531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9BD52-3BD5-594F-1A37-2E5774289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49795"/>
            <a:ext cx="12192000" cy="2387600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rgbClr val="2AC2F2"/>
                </a:solidFill>
                <a:latin typeface="Orbitron" pitchFamily="2" charset="0"/>
              </a:rPr>
              <a:t>THE THIRD EYE GLOVE</a:t>
            </a:r>
            <a:endParaRPr lang="en-IN" sz="6600" b="1" dirty="0">
              <a:solidFill>
                <a:srgbClr val="2AC2F2"/>
              </a:solidFill>
              <a:latin typeface="Orbitron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54C389-C352-3D57-A671-ACB9E8FC2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632" y="3429000"/>
            <a:ext cx="11402568" cy="1655762"/>
          </a:xfrm>
        </p:spPr>
        <p:txBody>
          <a:bodyPr>
            <a:norm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An Arduino-Based Smart Obstacle Detection System</a:t>
            </a:r>
          </a:p>
          <a:p>
            <a:endParaRPr lang="en-US" dirty="0">
              <a:latin typeface="Bahnschrift" panose="020B0502040204020203" pitchFamily="34" charset="0"/>
            </a:endParaRPr>
          </a:p>
          <a:p>
            <a:r>
              <a:rPr lang="en-US" sz="3600" b="1" dirty="0">
                <a:solidFill>
                  <a:srgbClr val="00FFD1"/>
                </a:solidFill>
                <a:latin typeface="Orbitron" pitchFamily="2" charset="0"/>
              </a:rPr>
              <a:t>‘A Project for visually impaired community’</a:t>
            </a:r>
            <a:endParaRPr lang="en-IN" sz="3600" b="1" dirty="0">
              <a:solidFill>
                <a:srgbClr val="00FFD1"/>
              </a:solidFill>
              <a:latin typeface="Orbitro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685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403935-429C-15E3-9F1C-39CFDDFECFA4}"/>
              </a:ext>
            </a:extLst>
          </p:cNvPr>
          <p:cNvSpPr txBox="1"/>
          <p:nvPr/>
        </p:nvSpPr>
        <p:spPr>
          <a:xfrm>
            <a:off x="557784" y="521208"/>
            <a:ext cx="4251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Orbitron" pitchFamily="2" charset="0"/>
              </a:rPr>
              <a:t>INTRODUCTION</a:t>
            </a:r>
            <a:endParaRPr lang="en-IN" sz="3600" b="1" dirty="0">
              <a:latin typeface="Orbitron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66C9147-882E-D11F-3B5D-58B56E2EC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52" y="1874728"/>
            <a:ext cx="11786616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Visually impaired people face difficulty detecting nearby obstacles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Traditional walking sticks have limited range and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Technology can assist by providing real-time obstacle alerts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Third Eye Glove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is a wearable, low-cost smart solution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947AA88-21D5-17D4-E251-BEE30C6A3EF6}"/>
              </a:ext>
            </a:extLst>
          </p:cNvPr>
          <p:cNvCxnSpPr>
            <a:cxnSpLocks/>
          </p:cNvCxnSpPr>
          <p:nvPr/>
        </p:nvCxnSpPr>
        <p:spPr>
          <a:xfrm>
            <a:off x="301752" y="1289304"/>
            <a:ext cx="1152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4356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13E549-ADC6-E64F-1877-C12FA52E5523}"/>
              </a:ext>
            </a:extLst>
          </p:cNvPr>
          <p:cNvSpPr txBox="1"/>
          <p:nvPr/>
        </p:nvSpPr>
        <p:spPr>
          <a:xfrm>
            <a:off x="402336" y="493776"/>
            <a:ext cx="5330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Orbitron" pitchFamily="2" charset="0"/>
              </a:rPr>
              <a:t>What is it, actually?</a:t>
            </a:r>
            <a:endParaRPr lang="en-IN" sz="3600" b="1" dirty="0">
              <a:latin typeface="Orbitron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28C6A34-6726-59C9-B7CD-E790FFE8CA4F}"/>
              </a:ext>
            </a:extLst>
          </p:cNvPr>
          <p:cNvCxnSpPr>
            <a:cxnSpLocks/>
          </p:cNvCxnSpPr>
          <p:nvPr/>
        </p:nvCxnSpPr>
        <p:spPr>
          <a:xfrm>
            <a:off x="301752" y="1289304"/>
            <a:ext cx="1152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9BE7974D-9780-1851-3C98-5DE2CC20D6F7}"/>
              </a:ext>
            </a:extLst>
          </p:cNvPr>
          <p:cNvGrpSpPr/>
          <p:nvPr/>
        </p:nvGrpSpPr>
        <p:grpSpPr>
          <a:xfrm>
            <a:off x="402336" y="1572759"/>
            <a:ext cx="5468112" cy="2359143"/>
            <a:chOff x="557784" y="1856232"/>
            <a:chExt cx="5202936" cy="2130552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77EC6C7-22DD-BCED-0BF7-8492A3DE9F21}"/>
                </a:ext>
              </a:extLst>
            </p:cNvPr>
            <p:cNvSpPr>
              <a:spLocks/>
            </p:cNvSpPr>
            <p:nvPr/>
          </p:nvSpPr>
          <p:spPr>
            <a:xfrm>
              <a:off x="557784" y="1856232"/>
              <a:ext cx="5202936" cy="2130552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2"/>
                </a:solidFill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1D1D251-9A86-2B83-A165-C4BE1B61D537}"/>
                </a:ext>
              </a:extLst>
            </p:cNvPr>
            <p:cNvSpPr/>
            <p:nvPr/>
          </p:nvSpPr>
          <p:spPr>
            <a:xfrm>
              <a:off x="637032" y="1856232"/>
              <a:ext cx="5123688" cy="2130552"/>
            </a:xfrm>
            <a:prstGeom prst="round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b="1" dirty="0"/>
            </a:p>
            <a:p>
              <a:r>
                <a:rPr lang="en-US" b="1" dirty="0"/>
                <a:t>Makes Me Aware</a:t>
              </a:r>
            </a:p>
            <a:p>
              <a:endParaRPr lang="en-US" b="1" dirty="0"/>
            </a:p>
            <a:p>
              <a:r>
                <a:rPr lang="en-US" dirty="0"/>
                <a:t>It helps visually impaired users understand the space around them without having to touch anything.</a:t>
              </a:r>
            </a:p>
            <a:p>
              <a:endParaRPr lang="en-US" dirty="0"/>
            </a:p>
            <a:p>
              <a:pPr algn="ctr"/>
              <a:endParaRPr lang="en-IN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D60A789-BAF7-47BD-DF89-4CC96C1187A6}"/>
              </a:ext>
            </a:extLst>
          </p:cNvPr>
          <p:cNvGrpSpPr/>
          <p:nvPr/>
        </p:nvGrpSpPr>
        <p:grpSpPr>
          <a:xfrm>
            <a:off x="6355080" y="4215358"/>
            <a:ext cx="5468112" cy="2359143"/>
            <a:chOff x="557784" y="1856232"/>
            <a:chExt cx="5202936" cy="2130552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EFA150D-6E1C-115E-E2CF-41CC6F6BF2EA}"/>
                </a:ext>
              </a:extLst>
            </p:cNvPr>
            <p:cNvSpPr>
              <a:spLocks/>
            </p:cNvSpPr>
            <p:nvPr/>
          </p:nvSpPr>
          <p:spPr>
            <a:xfrm>
              <a:off x="557784" y="1856232"/>
              <a:ext cx="5202936" cy="2130552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2"/>
                </a:solidFill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0000EE6-8B38-432D-AFAA-05B617DB469B}"/>
                </a:ext>
              </a:extLst>
            </p:cNvPr>
            <p:cNvSpPr/>
            <p:nvPr/>
          </p:nvSpPr>
          <p:spPr>
            <a:xfrm>
              <a:off x="637032" y="1856232"/>
              <a:ext cx="5123688" cy="2130552"/>
            </a:xfrm>
            <a:prstGeom prst="round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b="1" dirty="0"/>
            </a:p>
            <a:p>
              <a:r>
                <a:rPr lang="en-US" b="1" dirty="0"/>
                <a:t>More Freedom</a:t>
              </a:r>
            </a:p>
            <a:p>
              <a:endParaRPr lang="en-US" b="1" dirty="0"/>
            </a:p>
            <a:p>
              <a:r>
                <a:rPr lang="en-US" dirty="0"/>
                <a:t>The main point is to help people walk around more safely, confidently, and all by themselves!</a:t>
              </a:r>
            </a:p>
            <a:p>
              <a:endParaRPr lang="en-US" dirty="0"/>
            </a:p>
            <a:p>
              <a:pPr algn="ctr"/>
              <a:endParaRPr lang="en-IN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C3B3D69-40D5-1C6B-FB86-591CC8D3BE93}"/>
              </a:ext>
            </a:extLst>
          </p:cNvPr>
          <p:cNvGrpSpPr/>
          <p:nvPr/>
        </p:nvGrpSpPr>
        <p:grpSpPr>
          <a:xfrm>
            <a:off x="402336" y="4215358"/>
            <a:ext cx="5468112" cy="2359143"/>
            <a:chOff x="557784" y="1856232"/>
            <a:chExt cx="5202936" cy="2130552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9E81FFB-79C5-2085-75BD-D5B005671406}"/>
                </a:ext>
              </a:extLst>
            </p:cNvPr>
            <p:cNvSpPr>
              <a:spLocks/>
            </p:cNvSpPr>
            <p:nvPr/>
          </p:nvSpPr>
          <p:spPr>
            <a:xfrm>
              <a:off x="557784" y="1856232"/>
              <a:ext cx="5202936" cy="2130552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2"/>
                </a:solidFill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8AF1790-F2AF-6224-F067-B482503E1A8C}"/>
                </a:ext>
              </a:extLst>
            </p:cNvPr>
            <p:cNvSpPr/>
            <p:nvPr/>
          </p:nvSpPr>
          <p:spPr>
            <a:xfrm>
              <a:off x="637032" y="1856232"/>
              <a:ext cx="5123688" cy="2130552"/>
            </a:xfrm>
            <a:prstGeom prst="round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b="1" dirty="0"/>
            </a:p>
            <a:p>
              <a:r>
                <a:rPr lang="en-US" b="1" dirty="0"/>
                <a:t>Gives a Buzz</a:t>
              </a:r>
            </a:p>
            <a:p>
              <a:endParaRPr lang="en-US" b="1" dirty="0"/>
            </a:p>
            <a:p>
              <a:r>
                <a:rPr lang="en-US" dirty="0"/>
                <a:t>It immediately changes the distance information into a vibration signal you can feel easily.</a:t>
              </a:r>
            </a:p>
            <a:p>
              <a:endParaRPr lang="en-US" dirty="0"/>
            </a:p>
            <a:p>
              <a:pPr algn="ctr"/>
              <a:endParaRPr lang="en-IN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844E4E3-6255-ED59-6488-0E699C90B895}"/>
              </a:ext>
            </a:extLst>
          </p:cNvPr>
          <p:cNvGrpSpPr/>
          <p:nvPr/>
        </p:nvGrpSpPr>
        <p:grpSpPr>
          <a:xfrm>
            <a:off x="6375425" y="1572760"/>
            <a:ext cx="5468112" cy="2359143"/>
            <a:chOff x="557784" y="1856232"/>
            <a:chExt cx="5202936" cy="213055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3F32176-4863-DBAA-FB82-28DF20FEE121}"/>
                </a:ext>
              </a:extLst>
            </p:cNvPr>
            <p:cNvSpPr>
              <a:spLocks/>
            </p:cNvSpPr>
            <p:nvPr/>
          </p:nvSpPr>
          <p:spPr>
            <a:xfrm>
              <a:off x="557784" y="1856232"/>
              <a:ext cx="5202936" cy="2130552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2"/>
                </a:solidFill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2AB7EDF-B326-6297-E726-BA587C7472D6}"/>
                </a:ext>
              </a:extLst>
            </p:cNvPr>
            <p:cNvSpPr/>
            <p:nvPr/>
          </p:nvSpPr>
          <p:spPr>
            <a:xfrm>
              <a:off x="637032" y="1856232"/>
              <a:ext cx="5123688" cy="2130552"/>
            </a:xfrm>
            <a:prstGeom prst="round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b="1" dirty="0"/>
            </a:p>
            <a:p>
              <a:r>
                <a:rPr lang="en-US" b="1" dirty="0"/>
                <a:t>Finds Stuff</a:t>
              </a:r>
            </a:p>
            <a:p>
              <a:endParaRPr lang="en-US" b="1" dirty="0"/>
            </a:p>
            <a:p>
              <a:r>
                <a:rPr lang="en-US" dirty="0"/>
                <a:t>It uses these tiny ultrasonic sensors (like a bat!) to find objects that are nearby.</a:t>
              </a:r>
            </a:p>
            <a:p>
              <a:endParaRPr lang="en-US" dirty="0"/>
            </a:p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281897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FC9DF6-F427-302F-660E-9809CFB51812}"/>
              </a:ext>
            </a:extLst>
          </p:cNvPr>
          <p:cNvSpPr txBox="1"/>
          <p:nvPr/>
        </p:nvSpPr>
        <p:spPr>
          <a:xfrm>
            <a:off x="468630" y="501134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Orbitron" pitchFamily="2" charset="0"/>
              </a:rPr>
              <a:t>Problem Statement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188F99A-CCE4-1098-43BE-7D8BFD6BCCF3}"/>
              </a:ext>
            </a:extLst>
          </p:cNvPr>
          <p:cNvCxnSpPr>
            <a:cxnSpLocks/>
          </p:cNvCxnSpPr>
          <p:nvPr/>
        </p:nvCxnSpPr>
        <p:spPr>
          <a:xfrm>
            <a:off x="301752" y="1289304"/>
            <a:ext cx="1152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35E2AF80-AA8D-D58C-9FD1-6E6595DE5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52" y="1874728"/>
            <a:ext cx="11602856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Lack of awareness about obstacles in front of visually impaired people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Risk of accidents due to sudden obstacles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Existing solutions are costly or inconvenient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Need for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portable, affordable, and easy-to-use device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58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36EBFA-B567-6865-2298-B3C6114B97C0}"/>
              </a:ext>
            </a:extLst>
          </p:cNvPr>
          <p:cNvSpPr txBox="1"/>
          <p:nvPr/>
        </p:nvSpPr>
        <p:spPr>
          <a:xfrm>
            <a:off x="301752" y="542389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Orbitron" pitchFamily="2" charset="0"/>
              </a:rPr>
              <a:t>The Cool Design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DC18598-7893-73F7-75A4-06C8DFE42300}"/>
              </a:ext>
            </a:extLst>
          </p:cNvPr>
          <p:cNvCxnSpPr>
            <a:cxnSpLocks/>
          </p:cNvCxnSpPr>
          <p:nvPr/>
        </p:nvCxnSpPr>
        <p:spPr>
          <a:xfrm>
            <a:off x="301752" y="1289304"/>
            <a:ext cx="1152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463C207-79B0-7665-98D6-A7224D5A7E31}"/>
              </a:ext>
            </a:extLst>
          </p:cNvPr>
          <p:cNvSpPr txBox="1"/>
          <p:nvPr/>
        </p:nvSpPr>
        <p:spPr>
          <a:xfrm>
            <a:off x="301752" y="1463040"/>
            <a:ext cx="568756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Bahnschrift" panose="020B0502040204020203" pitchFamily="34" charset="0"/>
              </a:rPr>
              <a:t>• </a:t>
            </a:r>
            <a:r>
              <a:rPr lang="en-US" sz="2400" b="1" dirty="0">
                <a:latin typeface="Bahnschrift" panose="020B0502040204020203" pitchFamily="34" charset="0"/>
              </a:rPr>
              <a:t>Sensors are Smartly Placed:</a:t>
            </a:r>
            <a:br>
              <a:rPr lang="en-US" sz="2400" dirty="0">
                <a:latin typeface="Bahnschrift" panose="020B0502040204020203" pitchFamily="34" charset="0"/>
              </a:rPr>
            </a:br>
            <a:r>
              <a:rPr lang="en-US" sz="2400" dirty="0">
                <a:latin typeface="Bahnschrift" panose="020B0502040204020203" pitchFamily="34" charset="0"/>
              </a:rPr>
              <a:t>They are put on the glove in the best spots to see as much as possible.</a:t>
            </a:r>
          </a:p>
          <a:p>
            <a:pPr>
              <a:buNone/>
            </a:pPr>
            <a:r>
              <a:rPr lang="en-US" sz="2400" dirty="0">
                <a:latin typeface="Bahnschrift" panose="020B0502040204020203" pitchFamily="34" charset="0"/>
              </a:rPr>
              <a:t>• </a:t>
            </a:r>
            <a:r>
              <a:rPr lang="en-US" sz="2400" b="1" dirty="0">
                <a:latin typeface="Bahnschrift" panose="020B0502040204020203" pitchFamily="34" charset="0"/>
              </a:rPr>
              <a:t>Finger Signals:</a:t>
            </a:r>
            <a:br>
              <a:rPr lang="en-US" sz="2400" dirty="0">
                <a:latin typeface="Bahnschrift" panose="020B0502040204020203" pitchFamily="34" charset="0"/>
              </a:rPr>
            </a:br>
            <a:r>
              <a:rPr lang="en-US" sz="2400" dirty="0">
                <a:latin typeface="Bahnschrift" panose="020B0502040204020203" pitchFamily="34" charset="0"/>
              </a:rPr>
              <a:t>The vibrations happen on specific fingers, so you know exactly </a:t>
            </a:r>
            <a:r>
              <a:rPr lang="en-US" sz="2400" i="1" dirty="0">
                <a:latin typeface="Bahnschrift" panose="020B0502040204020203" pitchFamily="34" charset="0"/>
              </a:rPr>
              <a:t>where</a:t>
            </a:r>
            <a:r>
              <a:rPr lang="en-US" sz="2400" dirty="0">
                <a:latin typeface="Bahnschrift" panose="020B0502040204020203" pitchFamily="34" charset="0"/>
              </a:rPr>
              <a:t> the object is.</a:t>
            </a:r>
          </a:p>
          <a:p>
            <a:pPr>
              <a:buNone/>
            </a:pPr>
            <a:r>
              <a:rPr lang="en-US" sz="2400" dirty="0">
                <a:latin typeface="Bahnschrift" panose="020B0502040204020203" pitchFamily="34" charset="0"/>
              </a:rPr>
              <a:t>• </a:t>
            </a:r>
            <a:r>
              <a:rPr lang="en-US" sz="2400" b="1" dirty="0">
                <a:latin typeface="Bahnschrift" panose="020B0502040204020203" pitchFamily="34" charset="0"/>
              </a:rPr>
              <a:t>Distance is Clear:</a:t>
            </a:r>
            <a:br>
              <a:rPr lang="en-US" sz="2400" dirty="0">
                <a:latin typeface="Bahnschrift" panose="020B0502040204020203" pitchFamily="34" charset="0"/>
              </a:rPr>
            </a:br>
            <a:r>
              <a:rPr lang="en-US" sz="2400" dirty="0">
                <a:latin typeface="Bahnschrift" panose="020B0502040204020203" pitchFamily="34" charset="0"/>
              </a:rPr>
              <a:t>The buzz level clearly tells you:</a:t>
            </a:r>
            <a:br>
              <a:rPr lang="en-US" sz="2400" dirty="0">
                <a:latin typeface="Bahnschrift" panose="020B0502040204020203" pitchFamily="34" charset="0"/>
              </a:rPr>
            </a:br>
            <a:r>
              <a:rPr lang="en-US" sz="2400" dirty="0">
                <a:latin typeface="Bahnschrift" panose="020B0502040204020203" pitchFamily="34" charset="0"/>
              </a:rPr>
              <a:t>“Danger, it’s right here!” or</a:t>
            </a:r>
            <a:br>
              <a:rPr lang="en-US" sz="2400" dirty="0">
                <a:latin typeface="Bahnschrift" panose="020B0502040204020203" pitchFamily="34" charset="0"/>
              </a:rPr>
            </a:br>
            <a:r>
              <a:rPr lang="en-US" sz="2400" dirty="0">
                <a:latin typeface="Bahnschrift" panose="020B0502040204020203" pitchFamily="34" charset="0"/>
              </a:rPr>
              <a:t>“Relax, you have space.”</a:t>
            </a:r>
          </a:p>
          <a:p>
            <a:pPr>
              <a:buNone/>
            </a:pPr>
            <a:r>
              <a:rPr lang="en-US" sz="2400" dirty="0">
                <a:latin typeface="Bahnschrift" panose="020B0502040204020203" pitchFamily="34" charset="0"/>
              </a:rPr>
              <a:t>• </a:t>
            </a:r>
            <a:r>
              <a:rPr lang="en-US" sz="2400" b="1" dirty="0">
                <a:latin typeface="Bahnschrift" panose="020B0502040204020203" pitchFamily="34" charset="0"/>
              </a:rPr>
              <a:t>Fits Great:</a:t>
            </a:r>
            <a:br>
              <a:rPr lang="en-US" sz="2400" dirty="0">
                <a:latin typeface="Bahnschrift" panose="020B0502040204020203" pitchFamily="34" charset="0"/>
              </a:rPr>
            </a:br>
            <a:r>
              <a:rPr lang="en-US" sz="2400" dirty="0">
                <a:latin typeface="Bahnschrift" panose="020B0502040204020203" pitchFamily="34" charset="0"/>
              </a:rPr>
              <a:t>It’s shaped nicely to fit the hand, which makes it easy and comfortable to use.</a:t>
            </a:r>
          </a:p>
        </p:txBody>
      </p:sp>
      <p:pic>
        <p:nvPicPr>
          <p:cNvPr id="8" name="Picture 7" descr="A glove with wires and wires&#10;&#10;AI-generated content may be incorrect.">
            <a:extLst>
              <a:ext uri="{FF2B5EF4-FFF2-40B4-BE49-F238E27FC236}">
                <a16:creationId xmlns:a16="http://schemas.microsoft.com/office/drawing/2014/main" id="{B3989EAB-8032-C8F1-7B23-30E480590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61" t="17756" r="1870" b="11120"/>
          <a:stretch>
            <a:fillRect/>
          </a:stretch>
        </p:blipFill>
        <p:spPr>
          <a:xfrm>
            <a:off x="7494310" y="1389889"/>
            <a:ext cx="3358482" cy="5262649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98328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38C124-0071-7992-50A3-CE8D8476768A}"/>
              </a:ext>
            </a:extLst>
          </p:cNvPr>
          <p:cNvSpPr txBox="1"/>
          <p:nvPr/>
        </p:nvSpPr>
        <p:spPr>
          <a:xfrm>
            <a:off x="301752" y="519422"/>
            <a:ext cx="67094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Orbitron" pitchFamily="2" charset="0"/>
              </a:rPr>
              <a:t>Objective of the Project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43795A-84B0-1A65-63E4-D5C97430DA1D}"/>
              </a:ext>
            </a:extLst>
          </p:cNvPr>
          <p:cNvCxnSpPr>
            <a:cxnSpLocks/>
          </p:cNvCxnSpPr>
          <p:nvPr/>
        </p:nvCxnSpPr>
        <p:spPr>
          <a:xfrm>
            <a:off x="301752" y="1289304"/>
            <a:ext cx="1152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FC7C7D71-8FE3-E65F-66A2-8E46AE632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52" y="1874728"/>
            <a:ext cx="10344499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To design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smart wearable glove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for obstacle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To detect obstacles using ultrasonic sensing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To alert the user through sound/light signals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To improve safety and independence of visually impaired users</a:t>
            </a:r>
          </a:p>
        </p:txBody>
      </p:sp>
    </p:spTree>
    <p:extLst>
      <p:ext uri="{BB962C8B-B14F-4D97-AF65-F5344CB8AC3E}">
        <p14:creationId xmlns:p14="http://schemas.microsoft.com/office/powerpoint/2010/main" val="4293569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B8538B-0067-454A-1301-86AD9F82D4BD}"/>
              </a:ext>
            </a:extLst>
          </p:cNvPr>
          <p:cNvSpPr txBox="1"/>
          <p:nvPr/>
        </p:nvSpPr>
        <p:spPr>
          <a:xfrm>
            <a:off x="301752" y="553995"/>
            <a:ext cx="89771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Orbitron" pitchFamily="2" charset="0"/>
              </a:rPr>
              <a:t>Hardware Components Used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9AE7C96-6702-94F6-FD88-A747C39044F1}"/>
              </a:ext>
            </a:extLst>
          </p:cNvPr>
          <p:cNvCxnSpPr>
            <a:cxnSpLocks/>
          </p:cNvCxnSpPr>
          <p:nvPr/>
        </p:nvCxnSpPr>
        <p:spPr>
          <a:xfrm>
            <a:off x="301752" y="1289304"/>
            <a:ext cx="1152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C0FB6551-F2DA-9EFA-92CE-7666D8377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52" y="1467261"/>
            <a:ext cx="476444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Arduino UNO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HC-SR04 Ultrasonic Sensor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Buzzer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LED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9V Battery / Power Supply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Switch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Connecting Wires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Glove (wearable base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9F1A473-4D36-C9A3-38DD-1230AA846B0F}"/>
              </a:ext>
            </a:extLst>
          </p:cNvPr>
          <p:cNvGrpSpPr/>
          <p:nvPr/>
        </p:nvGrpSpPr>
        <p:grpSpPr>
          <a:xfrm>
            <a:off x="5066198" y="1467261"/>
            <a:ext cx="6872400" cy="5001765"/>
            <a:chOff x="5118432" y="1567072"/>
            <a:chExt cx="6872400" cy="5001765"/>
          </a:xfrm>
        </p:grpSpPr>
        <p:pic>
          <p:nvPicPr>
            <p:cNvPr id="9" name="Picture 8" descr="A battery with a label on it&#10;&#10;AI-generated content may be incorrect.">
              <a:extLst>
                <a:ext uri="{FF2B5EF4-FFF2-40B4-BE49-F238E27FC236}">
                  <a16:creationId xmlns:a16="http://schemas.microsoft.com/office/drawing/2014/main" id="{C6608A00-9DF8-A61E-325B-7E888E68C1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18432" y="1567073"/>
              <a:ext cx="2328117" cy="3439618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pic>
        <p:pic>
          <p:nvPicPr>
            <p:cNvPr id="11" name="Picture 10" descr="A black round object with red wires&#10;&#10;AI-generated content may be incorrect.">
              <a:extLst>
                <a:ext uri="{FF2B5EF4-FFF2-40B4-BE49-F238E27FC236}">
                  <a16:creationId xmlns:a16="http://schemas.microsoft.com/office/drawing/2014/main" id="{85CADC95-E135-EE58-9BD4-D2A1E5C99A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6172777" y="2520100"/>
              <a:ext cx="3439619" cy="153356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pic>
        <p:pic>
          <p:nvPicPr>
            <p:cNvPr id="13" name="Picture 12" descr="A black square object with metal wires&#10;&#10;AI-generated content may be incorrect.">
              <a:extLst>
                <a:ext uri="{FF2B5EF4-FFF2-40B4-BE49-F238E27FC236}">
                  <a16:creationId xmlns:a16="http://schemas.microsoft.com/office/drawing/2014/main" id="{4835032A-F04E-351F-78E3-A92997101B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63913" y="1567073"/>
              <a:ext cx="3426919" cy="1573888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pic>
        <p:pic>
          <p:nvPicPr>
            <p:cNvPr id="15" name="Picture 14" descr="A blue circuit board with many different components&#10;&#10;AI-generated content may be incorrect.">
              <a:extLst>
                <a:ext uri="{FF2B5EF4-FFF2-40B4-BE49-F238E27FC236}">
                  <a16:creationId xmlns:a16="http://schemas.microsoft.com/office/drawing/2014/main" id="{1CA55423-12E7-EB22-5FBB-D1DF87F21E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63912" y="3140961"/>
              <a:ext cx="3426919" cy="3427876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pic>
        <p:pic>
          <p:nvPicPr>
            <p:cNvPr id="17" name="Picture 16" descr="A close-up of a device&#10;&#10;AI-generated content may be incorrect.">
              <a:extLst>
                <a:ext uri="{FF2B5EF4-FFF2-40B4-BE49-F238E27FC236}">
                  <a16:creationId xmlns:a16="http://schemas.microsoft.com/office/drawing/2014/main" id="{F909D6B4-57A2-F438-D176-6B9690374D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18432" y="5006691"/>
              <a:ext cx="3426919" cy="1562146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pic>
      </p:grpSp>
    </p:spTree>
    <p:extLst>
      <p:ext uri="{BB962C8B-B14F-4D97-AF65-F5344CB8AC3E}">
        <p14:creationId xmlns:p14="http://schemas.microsoft.com/office/powerpoint/2010/main" val="1463278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D89D3B7-4D22-DA40-2FF2-C49604E16EFC}"/>
              </a:ext>
            </a:extLst>
          </p:cNvPr>
          <p:cNvCxnSpPr>
            <a:cxnSpLocks/>
          </p:cNvCxnSpPr>
          <p:nvPr/>
        </p:nvCxnSpPr>
        <p:spPr>
          <a:xfrm>
            <a:off x="301752" y="1289304"/>
            <a:ext cx="1152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1F87ADB-3B9A-7A65-1BEE-3B457DDF5927}"/>
              </a:ext>
            </a:extLst>
          </p:cNvPr>
          <p:cNvSpPr txBox="1"/>
          <p:nvPr/>
        </p:nvSpPr>
        <p:spPr>
          <a:xfrm>
            <a:off x="301752" y="537710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Orbitron" pitchFamily="2" charset="0"/>
              </a:rPr>
              <a:t>Software &amp; Tools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47CCF3-5002-0C49-0427-3887839F4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52" y="1598378"/>
            <a:ext cx="787427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Arduino IDE (for coding)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Embedded C / Arduino Programming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Proteus (for simulation – optional)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USB Cable for programming Arduino</a:t>
            </a:r>
          </a:p>
        </p:txBody>
      </p:sp>
    </p:spTree>
    <p:extLst>
      <p:ext uri="{BB962C8B-B14F-4D97-AF65-F5344CB8AC3E}">
        <p14:creationId xmlns:p14="http://schemas.microsoft.com/office/powerpoint/2010/main" val="2353101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613C4D-1963-127F-1BE1-F7FFA0464CDB}"/>
              </a:ext>
            </a:extLst>
          </p:cNvPr>
          <p:cNvSpPr txBox="1"/>
          <p:nvPr/>
        </p:nvSpPr>
        <p:spPr>
          <a:xfrm>
            <a:off x="301752" y="537710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Orbitron" pitchFamily="2" charset="0"/>
              </a:rPr>
              <a:t>Block Diagram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2F3B7F7-CB30-6D7E-694A-62079827C552}"/>
              </a:ext>
            </a:extLst>
          </p:cNvPr>
          <p:cNvCxnSpPr>
            <a:cxnSpLocks/>
          </p:cNvCxnSpPr>
          <p:nvPr/>
        </p:nvCxnSpPr>
        <p:spPr>
          <a:xfrm>
            <a:off x="301752" y="1289304"/>
            <a:ext cx="1152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2A51DCE-579B-DB5C-73DB-FF68855876AF}"/>
              </a:ext>
            </a:extLst>
          </p:cNvPr>
          <p:cNvSpPr txBox="1"/>
          <p:nvPr/>
        </p:nvSpPr>
        <p:spPr>
          <a:xfrm>
            <a:off x="642366" y="2198663"/>
            <a:ext cx="455142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Power Supply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Bahnschrift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Ultrasonic Sensor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Bahnschrift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Arduino UNO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Bahnschrift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Output Devices (Buzzer &amp; LED)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EB7215-AE77-F434-4960-A132724AABD0}"/>
              </a:ext>
            </a:extLst>
          </p:cNvPr>
          <p:cNvSpPr txBox="1"/>
          <p:nvPr/>
        </p:nvSpPr>
        <p:spPr>
          <a:xfrm>
            <a:off x="301752" y="1458462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Blocks: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99AF0E-B3E3-D0DB-EB30-1A18F53CB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331" y="2189236"/>
            <a:ext cx="6509861" cy="328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987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05968C-6B3B-085A-B35B-E05DD0B7391C}"/>
              </a:ext>
            </a:extLst>
          </p:cNvPr>
          <p:cNvSpPr txBox="1"/>
          <p:nvPr/>
        </p:nvSpPr>
        <p:spPr>
          <a:xfrm>
            <a:off x="301752" y="574286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latin typeface="Orbitron" pitchFamily="2" charset="0"/>
              </a:rPr>
              <a:t>Working Principle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3F030A8-F791-12C8-EE85-6B475BC4F801}"/>
              </a:ext>
            </a:extLst>
          </p:cNvPr>
          <p:cNvCxnSpPr>
            <a:cxnSpLocks/>
          </p:cNvCxnSpPr>
          <p:nvPr/>
        </p:nvCxnSpPr>
        <p:spPr>
          <a:xfrm>
            <a:off x="301752" y="1289304"/>
            <a:ext cx="1152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5AC07FD3-579E-0000-7346-FA46C8431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52" y="1408589"/>
            <a:ext cx="9976104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Ultrasonic sensor emits sound waves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Sound waves hit an obstacle and reflect back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Arduino calculates distance using time delay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If obstacle is within a set range: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        .Buzzer alerts the user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        .LED indicates proximity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191784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B2DCF5E-603B-27BC-C7AF-040540ADACA9}"/>
              </a:ext>
            </a:extLst>
          </p:cNvPr>
          <p:cNvCxnSpPr>
            <a:cxnSpLocks/>
          </p:cNvCxnSpPr>
          <p:nvPr/>
        </p:nvCxnSpPr>
        <p:spPr>
          <a:xfrm>
            <a:off x="301752" y="1289304"/>
            <a:ext cx="1152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1B27D06-F37E-BE6A-65BE-A66D1261A4A5}"/>
              </a:ext>
            </a:extLst>
          </p:cNvPr>
          <p:cNvSpPr txBox="1"/>
          <p:nvPr/>
        </p:nvSpPr>
        <p:spPr>
          <a:xfrm>
            <a:off x="301752" y="565142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Orbitron" pitchFamily="2" charset="0"/>
              </a:rPr>
              <a:t>How the Tech 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111C56-1353-395C-EC1F-332AC78C44D0}"/>
              </a:ext>
            </a:extLst>
          </p:cNvPr>
          <p:cNvSpPr txBox="1"/>
          <p:nvPr/>
        </p:nvSpPr>
        <p:spPr>
          <a:xfrm>
            <a:off x="301752" y="1519671"/>
            <a:ext cx="1131798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latin typeface="Bahnschrift" panose="020B0502040204020203" pitchFamily="34" charset="0"/>
              </a:rPr>
              <a:t>• </a:t>
            </a:r>
            <a:r>
              <a:rPr lang="en-US" sz="2800" b="1" dirty="0">
                <a:latin typeface="Bahnschrift" panose="020B0502040204020203" pitchFamily="34" charset="0"/>
              </a:rPr>
              <a:t>It's Always Scanning:</a:t>
            </a:r>
            <a:br>
              <a:rPr lang="en-US" sz="2800" dirty="0">
                <a:latin typeface="Bahnschrift" panose="020B0502040204020203" pitchFamily="34" charset="0"/>
              </a:rPr>
            </a:br>
            <a:r>
              <a:rPr lang="en-US" sz="2800" dirty="0">
                <a:latin typeface="Bahnschrift" panose="020B0502040204020203" pitchFamily="34" charset="0"/>
              </a:rPr>
              <a:t>The sensors are always sending out sound waves to check the area in front of the user.</a:t>
            </a:r>
          </a:p>
          <a:p>
            <a:pPr>
              <a:buNone/>
            </a:pPr>
            <a:r>
              <a:rPr lang="en-US" sz="2800" dirty="0">
                <a:latin typeface="Bahnschrift" panose="020B0502040204020203" pitchFamily="34" charset="0"/>
              </a:rPr>
              <a:t>• </a:t>
            </a:r>
            <a:r>
              <a:rPr lang="en-US" sz="2800" b="1" dirty="0">
                <a:latin typeface="Bahnschrift" panose="020B0502040204020203" pitchFamily="34" charset="0"/>
              </a:rPr>
              <a:t>Buzz Tells Distance:</a:t>
            </a:r>
            <a:br>
              <a:rPr lang="en-US" sz="2800" dirty="0">
                <a:latin typeface="Bahnschrift" panose="020B0502040204020203" pitchFamily="34" charset="0"/>
              </a:rPr>
            </a:br>
            <a:r>
              <a:rPr lang="en-US" sz="2800" dirty="0">
                <a:latin typeface="Bahnschrift" panose="020B0502040204020203" pitchFamily="34" charset="0"/>
              </a:rPr>
              <a:t>If something is close, it buzzes harder. If it's far, it buzzes softly or not at all.</a:t>
            </a:r>
          </a:p>
          <a:p>
            <a:pPr>
              <a:buNone/>
            </a:pPr>
            <a:r>
              <a:rPr lang="en-US" sz="2800" dirty="0">
                <a:latin typeface="Bahnschrift" panose="020B0502040204020203" pitchFamily="34" charset="0"/>
              </a:rPr>
              <a:t>• </a:t>
            </a:r>
            <a:r>
              <a:rPr lang="en-US" sz="2800" b="1" dirty="0">
                <a:latin typeface="Bahnschrift" panose="020B0502040204020203" pitchFamily="34" charset="0"/>
              </a:rPr>
              <a:t>Super Fast Warning:</a:t>
            </a:r>
            <a:br>
              <a:rPr lang="en-US" sz="2800" dirty="0">
                <a:latin typeface="Bahnschrift" panose="020B0502040204020203" pitchFamily="34" charset="0"/>
              </a:rPr>
            </a:br>
            <a:r>
              <a:rPr lang="en-US" sz="2800" dirty="0">
                <a:latin typeface="Bahnschrift" panose="020B0502040204020203" pitchFamily="34" charset="0"/>
              </a:rPr>
              <a:t>It gives a real-time warning right on your hand—it's like an instant safety shield!</a:t>
            </a:r>
          </a:p>
          <a:p>
            <a:pPr>
              <a:buNone/>
            </a:pPr>
            <a:r>
              <a:rPr lang="en-US" sz="2800" dirty="0">
                <a:latin typeface="Bahnschrift" panose="020B0502040204020203" pitchFamily="34" charset="0"/>
              </a:rPr>
              <a:t>• </a:t>
            </a:r>
            <a:r>
              <a:rPr lang="en-US" sz="2800" b="1" dirty="0">
                <a:latin typeface="Bahnschrift" panose="020B0502040204020203" pitchFamily="34" charset="0"/>
              </a:rPr>
              <a:t>Easy to Wear:</a:t>
            </a:r>
            <a:br>
              <a:rPr lang="en-US" sz="2800" dirty="0">
                <a:latin typeface="Bahnschrift" panose="020B0502040204020203" pitchFamily="34" charset="0"/>
              </a:rPr>
            </a:br>
            <a:r>
              <a:rPr lang="en-US" sz="2800" dirty="0">
                <a:latin typeface="Bahnschrift" panose="020B0502040204020203" pitchFamily="34" charset="0"/>
              </a:rPr>
              <a:t>We designed it to be light and comfy so you can wear it all day without trouble.</a:t>
            </a:r>
          </a:p>
        </p:txBody>
      </p:sp>
    </p:spTree>
    <p:extLst>
      <p:ext uri="{BB962C8B-B14F-4D97-AF65-F5344CB8AC3E}">
        <p14:creationId xmlns:p14="http://schemas.microsoft.com/office/powerpoint/2010/main" val="4264860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47A322-7F26-D092-F04F-96E3088135E5}"/>
              </a:ext>
            </a:extLst>
          </p:cNvPr>
          <p:cNvSpPr txBox="1"/>
          <p:nvPr/>
        </p:nvSpPr>
        <p:spPr>
          <a:xfrm>
            <a:off x="301752" y="537710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Orbitron" pitchFamily="2" charset="0"/>
              </a:rPr>
              <a:t>Algorithm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FA72DAC-76A6-26FE-2628-AAB791EBFD08}"/>
              </a:ext>
            </a:extLst>
          </p:cNvPr>
          <p:cNvCxnSpPr>
            <a:cxnSpLocks/>
          </p:cNvCxnSpPr>
          <p:nvPr/>
        </p:nvCxnSpPr>
        <p:spPr>
          <a:xfrm>
            <a:off x="301752" y="1289304"/>
            <a:ext cx="1152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7EBA619-0D90-2591-2966-283305A57037}"/>
              </a:ext>
            </a:extLst>
          </p:cNvPr>
          <p:cNvSpPr txBox="1"/>
          <p:nvPr/>
        </p:nvSpPr>
        <p:spPr>
          <a:xfrm>
            <a:off x="210312" y="1723752"/>
            <a:ext cx="487375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800" dirty="0">
                <a:latin typeface="Bahnschrift" panose="020B0502040204020203" pitchFamily="34" charset="0"/>
              </a:rPr>
              <a:t>Start the system</a:t>
            </a:r>
          </a:p>
          <a:p>
            <a:pPr>
              <a:buFont typeface="+mj-lt"/>
              <a:buAutoNum type="arabicPeriod"/>
            </a:pPr>
            <a:r>
              <a:rPr lang="en-US" sz="2800" dirty="0">
                <a:latin typeface="Bahnschrift" panose="020B0502040204020203" pitchFamily="34" charset="0"/>
              </a:rPr>
              <a:t>Trigger ultrasonic sensor</a:t>
            </a:r>
          </a:p>
          <a:p>
            <a:pPr>
              <a:buFont typeface="+mj-lt"/>
              <a:buAutoNum type="arabicPeriod"/>
            </a:pPr>
            <a:r>
              <a:rPr lang="en-US" sz="2800" dirty="0">
                <a:latin typeface="Bahnschrift" panose="020B0502040204020203" pitchFamily="34" charset="0"/>
              </a:rPr>
              <a:t>Measure echo time</a:t>
            </a:r>
          </a:p>
          <a:p>
            <a:pPr>
              <a:buFont typeface="+mj-lt"/>
              <a:buAutoNum type="arabicPeriod"/>
            </a:pPr>
            <a:r>
              <a:rPr lang="en-US" sz="2800" dirty="0">
                <a:latin typeface="Bahnschrift" panose="020B0502040204020203" pitchFamily="34" charset="0"/>
              </a:rPr>
              <a:t>Calculate distance</a:t>
            </a:r>
          </a:p>
          <a:p>
            <a:pPr>
              <a:buFont typeface="+mj-lt"/>
              <a:buAutoNum type="arabicPeriod"/>
            </a:pPr>
            <a:r>
              <a:rPr lang="en-US" sz="2800" dirty="0">
                <a:latin typeface="Bahnschrift" panose="020B0502040204020203" pitchFamily="34" charset="0"/>
              </a:rPr>
              <a:t>If distance &lt; threshold: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>
                <a:latin typeface="Bahnschrift" panose="020B0502040204020203" pitchFamily="34" charset="0"/>
              </a:rPr>
              <a:t>Turn ON buzzer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>
                <a:latin typeface="Bahnschrift" panose="020B0502040204020203" pitchFamily="34" charset="0"/>
              </a:rPr>
              <a:t>Turn ON LED</a:t>
            </a:r>
          </a:p>
          <a:p>
            <a:pPr>
              <a:buFont typeface="+mj-lt"/>
              <a:buAutoNum type="arabicPeriod"/>
            </a:pPr>
            <a:r>
              <a:rPr lang="en-US" sz="2800" dirty="0">
                <a:latin typeface="Bahnschrift" panose="020B0502040204020203" pitchFamily="34" charset="0"/>
              </a:rPr>
              <a:t>Else: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>
                <a:latin typeface="Bahnschrift" panose="020B0502040204020203" pitchFamily="34" charset="0"/>
              </a:rPr>
              <a:t>Keep outputs OFF</a:t>
            </a:r>
          </a:p>
          <a:p>
            <a:pPr>
              <a:buFont typeface="+mj-lt"/>
              <a:buAutoNum type="arabicPeriod"/>
            </a:pPr>
            <a:r>
              <a:rPr lang="en-US" sz="2800" dirty="0">
                <a:latin typeface="Bahnschrift" panose="020B0502040204020203" pitchFamily="34" charset="0"/>
              </a:rPr>
              <a:t>Repeat continuously</a:t>
            </a:r>
          </a:p>
        </p:txBody>
      </p:sp>
    </p:spTree>
    <p:extLst>
      <p:ext uri="{BB962C8B-B14F-4D97-AF65-F5344CB8AC3E}">
        <p14:creationId xmlns:p14="http://schemas.microsoft.com/office/powerpoint/2010/main" val="1174644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A105D1-9006-A79C-0652-702D9E5F98BF}"/>
              </a:ext>
            </a:extLst>
          </p:cNvPr>
          <p:cNvSpPr txBox="1"/>
          <p:nvPr/>
        </p:nvSpPr>
        <p:spPr>
          <a:xfrm>
            <a:off x="301752" y="537710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Orbitron" pitchFamily="2" charset="0"/>
              </a:rPr>
              <a:t>Advantages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1231956-EC5E-14D8-8BA8-4F02F6AB3120}"/>
              </a:ext>
            </a:extLst>
          </p:cNvPr>
          <p:cNvCxnSpPr>
            <a:cxnSpLocks/>
          </p:cNvCxnSpPr>
          <p:nvPr/>
        </p:nvCxnSpPr>
        <p:spPr>
          <a:xfrm>
            <a:off x="301752" y="1289304"/>
            <a:ext cx="1152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4D57BB33-27BB-5846-7544-C5456DC10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973" y="1289304"/>
            <a:ext cx="6252033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Low cost and portable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Easy to use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Real-time obstacle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Wearable and hands-free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Improves user safety</a:t>
            </a:r>
          </a:p>
        </p:txBody>
      </p:sp>
    </p:spTree>
    <p:extLst>
      <p:ext uri="{BB962C8B-B14F-4D97-AF65-F5344CB8AC3E}">
        <p14:creationId xmlns:p14="http://schemas.microsoft.com/office/powerpoint/2010/main" val="2085386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20540A-A233-C6CD-F176-0953A168CED9}"/>
              </a:ext>
            </a:extLst>
          </p:cNvPr>
          <p:cNvSpPr txBox="1"/>
          <p:nvPr/>
        </p:nvSpPr>
        <p:spPr>
          <a:xfrm>
            <a:off x="301752" y="537710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Orbitron" pitchFamily="2" charset="0"/>
              </a:rPr>
              <a:t>How It Helps People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F78462F-D4A8-0662-9472-A481C96D76C9}"/>
              </a:ext>
            </a:extLst>
          </p:cNvPr>
          <p:cNvCxnSpPr>
            <a:cxnSpLocks/>
          </p:cNvCxnSpPr>
          <p:nvPr/>
        </p:nvCxnSpPr>
        <p:spPr>
          <a:xfrm>
            <a:off x="301752" y="1289304"/>
            <a:ext cx="1152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27620FE-1BA8-35CA-1AAF-7499429371A5}"/>
              </a:ext>
            </a:extLst>
          </p:cNvPr>
          <p:cNvSpPr txBox="1"/>
          <p:nvPr/>
        </p:nvSpPr>
        <p:spPr>
          <a:xfrm>
            <a:off x="301752" y="1389889"/>
            <a:ext cx="1163726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latin typeface="Bahnschrift" panose="020B0502040204020203" pitchFamily="34" charset="0"/>
              </a:rPr>
              <a:t>• </a:t>
            </a:r>
            <a:r>
              <a:rPr lang="en-US" sz="2800" b="1" dirty="0">
                <a:latin typeface="Bahnschrift" panose="020B0502040204020203" pitchFamily="34" charset="0"/>
              </a:rPr>
              <a:t>Better Than the Cane:</a:t>
            </a:r>
            <a:br>
              <a:rPr lang="en-US" sz="2800" dirty="0">
                <a:latin typeface="Bahnschrift" panose="020B0502040204020203" pitchFamily="34" charset="0"/>
              </a:rPr>
            </a:br>
            <a:r>
              <a:rPr lang="en-US" sz="2800" dirty="0">
                <a:latin typeface="Bahnschrift" panose="020B0502040204020203" pitchFamily="34" charset="0"/>
              </a:rPr>
              <a:t>It’s a modern upgrade—you can sense things without just poking around with a cane.</a:t>
            </a:r>
          </a:p>
          <a:p>
            <a:pPr>
              <a:buNone/>
            </a:pPr>
            <a:r>
              <a:rPr lang="en-US" sz="2800" dirty="0">
                <a:latin typeface="Bahnschrift" panose="020B0502040204020203" pitchFamily="34" charset="0"/>
              </a:rPr>
              <a:t>• </a:t>
            </a:r>
            <a:r>
              <a:rPr lang="en-US" sz="2800" b="1" dirty="0">
                <a:latin typeface="Bahnschrift" panose="020B0502040204020203" pitchFamily="34" charset="0"/>
              </a:rPr>
              <a:t>Simple Feelings:</a:t>
            </a:r>
            <a:br>
              <a:rPr lang="en-US" sz="2800" dirty="0">
                <a:latin typeface="Bahnschrift" panose="020B0502040204020203" pitchFamily="34" charset="0"/>
              </a:rPr>
            </a:br>
            <a:r>
              <a:rPr lang="en-US" sz="2800" dirty="0">
                <a:latin typeface="Bahnschrift" panose="020B0502040204020203" pitchFamily="34" charset="0"/>
              </a:rPr>
              <a:t>It takes complicated electronic data and turns it into simple, easy-to-understand feelings on your hand.</a:t>
            </a:r>
          </a:p>
          <a:p>
            <a:pPr>
              <a:buNone/>
            </a:pPr>
            <a:r>
              <a:rPr lang="en-US" sz="2800" dirty="0">
                <a:latin typeface="Bahnschrift" panose="020B0502040204020203" pitchFamily="34" charset="0"/>
              </a:rPr>
              <a:t>• </a:t>
            </a:r>
            <a:r>
              <a:rPr lang="en-US" sz="2800" b="1" dirty="0">
                <a:latin typeface="Bahnschrift" panose="020B0502040204020203" pitchFamily="34" charset="0"/>
              </a:rPr>
              <a:t>Walk with Confidence:</a:t>
            </a:r>
            <a:br>
              <a:rPr lang="en-US" sz="2800" dirty="0">
                <a:latin typeface="Bahnschrift" panose="020B0502040204020203" pitchFamily="34" charset="0"/>
              </a:rPr>
            </a:br>
            <a:r>
              <a:rPr lang="en-US" sz="2800" dirty="0">
                <a:latin typeface="Bahnschrift" panose="020B0502040204020203" pitchFamily="34" charset="0"/>
              </a:rPr>
              <a:t>This really helps people move, find their way, and feel much more confident about being out alone.</a:t>
            </a:r>
          </a:p>
          <a:p>
            <a:pPr>
              <a:buNone/>
            </a:pPr>
            <a:r>
              <a:rPr lang="en-US" sz="2800" dirty="0">
                <a:latin typeface="Bahnschrift" panose="020B0502040204020203" pitchFamily="34" charset="0"/>
              </a:rPr>
              <a:t>• </a:t>
            </a:r>
            <a:r>
              <a:rPr lang="en-US" sz="2800" b="1" dirty="0">
                <a:latin typeface="Bahnschrift" panose="020B0502040204020203" pitchFamily="34" charset="0"/>
              </a:rPr>
              <a:t>Stops Accidents:</a:t>
            </a:r>
            <a:br>
              <a:rPr lang="en-US" sz="2800" dirty="0">
                <a:latin typeface="Bahnschrift" panose="020B0502040204020203" pitchFamily="34" charset="0"/>
              </a:rPr>
            </a:br>
            <a:r>
              <a:rPr lang="en-US" sz="2800" dirty="0">
                <a:latin typeface="Bahnschrift" panose="020B0502040204020203" pitchFamily="34" charset="0"/>
              </a:rPr>
              <a:t>It’s a constant safety net that drastically lowers the chance of bumping into things or falling.</a:t>
            </a:r>
          </a:p>
        </p:txBody>
      </p:sp>
    </p:spTree>
    <p:extLst>
      <p:ext uri="{BB962C8B-B14F-4D97-AF65-F5344CB8AC3E}">
        <p14:creationId xmlns:p14="http://schemas.microsoft.com/office/powerpoint/2010/main" val="12379433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70C172-68DC-4DF4-FF88-67F34BAC88F2}"/>
              </a:ext>
            </a:extLst>
          </p:cNvPr>
          <p:cNvSpPr txBox="1"/>
          <p:nvPr/>
        </p:nvSpPr>
        <p:spPr>
          <a:xfrm>
            <a:off x="301752" y="537710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Orbitron" pitchFamily="2" charset="0"/>
              </a:rPr>
              <a:t>Future Enhancements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BC1DE94-3198-C2C4-74D4-BCC222680AC3}"/>
              </a:ext>
            </a:extLst>
          </p:cNvPr>
          <p:cNvCxnSpPr>
            <a:cxnSpLocks/>
          </p:cNvCxnSpPr>
          <p:nvPr/>
        </p:nvCxnSpPr>
        <p:spPr>
          <a:xfrm>
            <a:off x="301752" y="1289304"/>
            <a:ext cx="1152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DAD36FC4-CD1B-710A-DED7-0BB404D97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52" y="1753826"/>
            <a:ext cx="632737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Add vibration motor for silent alerts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Use GPS for navigation assistance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Voice guidance using speaker module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AI-based object recognition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Mobile app integration</a:t>
            </a:r>
          </a:p>
        </p:txBody>
      </p:sp>
    </p:spTree>
    <p:extLst>
      <p:ext uri="{BB962C8B-B14F-4D97-AF65-F5344CB8AC3E}">
        <p14:creationId xmlns:p14="http://schemas.microsoft.com/office/powerpoint/2010/main" val="270598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97DEA6-B0A6-F411-86AE-7BA72064E4A7}"/>
              </a:ext>
            </a:extLst>
          </p:cNvPr>
          <p:cNvSpPr txBox="1"/>
          <p:nvPr/>
        </p:nvSpPr>
        <p:spPr>
          <a:xfrm>
            <a:off x="301752" y="537710"/>
            <a:ext cx="78729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Orbitron" pitchFamily="2" charset="0"/>
              </a:rPr>
              <a:t>What I Want to Add Next!</a:t>
            </a:r>
            <a:endParaRPr lang="en-IN" sz="3600" b="1" dirty="0">
              <a:latin typeface="Orbitron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811BF2-59C6-207A-BC8D-1A9652A8B295}"/>
              </a:ext>
            </a:extLst>
          </p:cNvPr>
          <p:cNvCxnSpPr>
            <a:cxnSpLocks/>
          </p:cNvCxnSpPr>
          <p:nvPr/>
        </p:nvCxnSpPr>
        <p:spPr>
          <a:xfrm>
            <a:off x="301752" y="1289304"/>
            <a:ext cx="1152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7057609-8DF5-F2FF-BEB9-044B26B55164}"/>
              </a:ext>
            </a:extLst>
          </p:cNvPr>
          <p:cNvGrpSpPr/>
          <p:nvPr/>
        </p:nvGrpSpPr>
        <p:grpSpPr>
          <a:xfrm>
            <a:off x="195072" y="2188461"/>
            <a:ext cx="2843784" cy="2871212"/>
            <a:chOff x="365760" y="1993394"/>
            <a:chExt cx="2843784" cy="2871212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F931A9B-D79D-F1A5-92A3-3131D3ED29A6}"/>
                </a:ext>
              </a:extLst>
            </p:cNvPr>
            <p:cNvSpPr/>
            <p:nvPr/>
          </p:nvSpPr>
          <p:spPr>
            <a:xfrm>
              <a:off x="365760" y="1993394"/>
              <a:ext cx="2843784" cy="2871212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2721240-4171-08B4-5500-6761CEE22800}"/>
                </a:ext>
              </a:extLst>
            </p:cNvPr>
            <p:cNvSpPr/>
            <p:nvPr/>
          </p:nvSpPr>
          <p:spPr>
            <a:xfrm>
              <a:off x="365760" y="2066544"/>
              <a:ext cx="2843784" cy="2798062"/>
            </a:xfrm>
            <a:prstGeom prst="roundRect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b="1" dirty="0"/>
            </a:p>
            <a:p>
              <a:endParaRPr lang="en-US" b="1" dirty="0"/>
            </a:p>
            <a:p>
              <a:endParaRPr lang="en-US" b="1" dirty="0"/>
            </a:p>
            <a:p>
              <a:pPr algn="ctr"/>
              <a:r>
                <a:rPr lang="en-US" b="1" dirty="0"/>
                <a:t>   Built-in GPS</a:t>
              </a:r>
            </a:p>
            <a:p>
              <a:pPr algn="ctr"/>
              <a:r>
                <a:rPr lang="en-US" dirty="0"/>
                <a:t>I want to add outdoor tracking to help guide users to specific places.</a:t>
              </a:r>
              <a:endParaRPr lang="en-IN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C7F70E9-516E-ECF2-F63E-B4428694BAC3}"/>
              </a:ext>
            </a:extLst>
          </p:cNvPr>
          <p:cNvGrpSpPr/>
          <p:nvPr/>
        </p:nvGrpSpPr>
        <p:grpSpPr>
          <a:xfrm>
            <a:off x="3162300" y="2225036"/>
            <a:ext cx="2843784" cy="2871212"/>
            <a:chOff x="365760" y="1993394"/>
            <a:chExt cx="2843784" cy="2871212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003D587-D749-7AE2-A9F8-C2143A5C5FB4}"/>
                </a:ext>
              </a:extLst>
            </p:cNvPr>
            <p:cNvSpPr/>
            <p:nvPr/>
          </p:nvSpPr>
          <p:spPr>
            <a:xfrm>
              <a:off x="365760" y="1993394"/>
              <a:ext cx="2843784" cy="2871212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BD0C757-12BE-DB46-3904-0F23BCEF7EAE}"/>
                </a:ext>
              </a:extLst>
            </p:cNvPr>
            <p:cNvSpPr/>
            <p:nvPr/>
          </p:nvSpPr>
          <p:spPr>
            <a:xfrm>
              <a:off x="365760" y="2066544"/>
              <a:ext cx="2843784" cy="2798062"/>
            </a:xfrm>
            <a:prstGeom prst="roundRect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b="1" dirty="0"/>
            </a:p>
            <a:p>
              <a:endParaRPr lang="en-US" b="1" dirty="0"/>
            </a:p>
            <a:p>
              <a:endParaRPr lang="en-US" b="1" dirty="0"/>
            </a:p>
            <a:p>
              <a:pPr algn="ctr"/>
              <a:r>
                <a:rPr lang="en-US" b="1" dirty="0"/>
                <a:t>Voice Helper</a:t>
              </a:r>
            </a:p>
            <a:p>
              <a:pPr algn="ctr"/>
              <a:r>
                <a:rPr lang="en-US" dirty="0"/>
                <a:t>Maybe replace the buzzes with a voice telling them. things like "Stop" or "Tum Left</a:t>
              </a:r>
              <a:endParaRPr lang="en-IN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1C51312-0C51-E2FF-1797-ABC1D3B13262}"/>
              </a:ext>
            </a:extLst>
          </p:cNvPr>
          <p:cNvGrpSpPr/>
          <p:nvPr/>
        </p:nvGrpSpPr>
        <p:grpSpPr>
          <a:xfrm>
            <a:off x="6185916" y="2225036"/>
            <a:ext cx="2843784" cy="2871212"/>
            <a:chOff x="365760" y="1993394"/>
            <a:chExt cx="2843784" cy="2871212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DB673EBB-7C34-0E5D-4DDE-1F617375C612}"/>
                </a:ext>
              </a:extLst>
            </p:cNvPr>
            <p:cNvSpPr/>
            <p:nvPr/>
          </p:nvSpPr>
          <p:spPr>
            <a:xfrm>
              <a:off x="365760" y="1993394"/>
              <a:ext cx="2843784" cy="2871212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3B6A7D0-8FA4-6A5A-0C3E-A2B35E13279B}"/>
                </a:ext>
              </a:extLst>
            </p:cNvPr>
            <p:cNvSpPr/>
            <p:nvPr/>
          </p:nvSpPr>
          <p:spPr>
            <a:xfrm>
              <a:off x="365760" y="2066544"/>
              <a:ext cx="2843784" cy="2798062"/>
            </a:xfrm>
            <a:prstGeom prst="roundRect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b="1" dirty="0"/>
            </a:p>
            <a:p>
              <a:endParaRPr lang="en-US" b="1" dirty="0"/>
            </a:p>
            <a:p>
              <a:endParaRPr lang="en-US" b="1" dirty="0"/>
            </a:p>
            <a:p>
              <a:pPr algn="ctr"/>
              <a:r>
                <a:rPr lang="en-US" b="1" dirty="0"/>
                <a:t>   Al Camera</a:t>
              </a:r>
            </a:p>
            <a:p>
              <a:pPr algn="ctr"/>
              <a:r>
                <a:rPr lang="en-US" dirty="0"/>
                <a:t>Using a small camera and Al to recognize money. faces, or stop signs!</a:t>
              </a:r>
              <a:endParaRPr lang="en-IN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B316166-85A6-E233-18A7-95C2E5E7CA56}"/>
              </a:ext>
            </a:extLst>
          </p:cNvPr>
          <p:cNvGrpSpPr/>
          <p:nvPr/>
        </p:nvGrpSpPr>
        <p:grpSpPr>
          <a:xfrm>
            <a:off x="9153144" y="2260789"/>
            <a:ext cx="2843784" cy="2871212"/>
            <a:chOff x="365760" y="1993394"/>
            <a:chExt cx="2843784" cy="2871212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EA6B34CA-7106-9382-A77E-903718479491}"/>
                </a:ext>
              </a:extLst>
            </p:cNvPr>
            <p:cNvSpPr/>
            <p:nvPr/>
          </p:nvSpPr>
          <p:spPr>
            <a:xfrm>
              <a:off x="365760" y="1993394"/>
              <a:ext cx="2843784" cy="2871212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E2833FD3-8404-3C8E-5E95-F6156170062F}"/>
                </a:ext>
              </a:extLst>
            </p:cNvPr>
            <p:cNvSpPr/>
            <p:nvPr/>
          </p:nvSpPr>
          <p:spPr>
            <a:xfrm>
              <a:off x="365760" y="2066544"/>
              <a:ext cx="2843784" cy="2798062"/>
            </a:xfrm>
            <a:prstGeom prst="roundRect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b="1" dirty="0"/>
            </a:p>
            <a:p>
              <a:endParaRPr lang="en-US" b="1" dirty="0"/>
            </a:p>
            <a:p>
              <a:r>
                <a:rPr lang="en-US" b="1" dirty="0"/>
                <a:t>         A Panic Button</a:t>
              </a:r>
            </a:p>
            <a:p>
              <a:r>
                <a:rPr lang="en-US" dirty="0"/>
                <a:t>     A feature that could send an emergency text to family if the user falls.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539646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ED3EA8-CC57-C336-C8B6-C74B6BE02A57}"/>
              </a:ext>
            </a:extLst>
          </p:cNvPr>
          <p:cNvSpPr txBox="1"/>
          <p:nvPr/>
        </p:nvSpPr>
        <p:spPr>
          <a:xfrm>
            <a:off x="301752" y="537710"/>
            <a:ext cx="78729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Orbitron" pitchFamily="2" charset="0"/>
              </a:rPr>
              <a:t>Why I Call It the ‘Third Eye’</a:t>
            </a:r>
            <a:endParaRPr lang="en-IN" sz="3600" b="1" dirty="0">
              <a:latin typeface="Orbitron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A5018F0-E4A6-CBE2-3923-8AABF03E0B36}"/>
              </a:ext>
            </a:extLst>
          </p:cNvPr>
          <p:cNvCxnSpPr>
            <a:cxnSpLocks/>
          </p:cNvCxnSpPr>
          <p:nvPr/>
        </p:nvCxnSpPr>
        <p:spPr>
          <a:xfrm>
            <a:off x="301752" y="1289304"/>
            <a:ext cx="1152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2065B34-1CD2-894B-4E50-F769C16D85DE}"/>
              </a:ext>
            </a:extLst>
          </p:cNvPr>
          <p:cNvSpPr txBox="1"/>
          <p:nvPr/>
        </p:nvSpPr>
        <p:spPr>
          <a:xfrm>
            <a:off x="301752" y="1677654"/>
            <a:ext cx="523178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latin typeface="Bahnschrift" panose="020B0502040204020203" pitchFamily="34" charset="0"/>
              </a:rPr>
              <a:t>• </a:t>
            </a:r>
            <a:r>
              <a:rPr lang="en-US" sz="2000" b="1" dirty="0">
                <a:latin typeface="Bahnschrift" panose="020B0502040204020203" pitchFamily="34" charset="0"/>
              </a:rPr>
              <a:t>Tech Combo:</a:t>
            </a:r>
            <a:br>
              <a:rPr lang="en-US" sz="2000" dirty="0">
                <a:latin typeface="Bahnschrift" panose="020B0502040204020203" pitchFamily="34" charset="0"/>
              </a:rPr>
            </a:br>
            <a:r>
              <a:rPr lang="en-US" sz="2000" dirty="0">
                <a:latin typeface="Bahnschrift" panose="020B0502040204020203" pitchFamily="34" charset="0"/>
              </a:rPr>
              <a:t>It smartly mixes the finding technology (ultrasound) with the feeling technology (vibration).</a:t>
            </a:r>
          </a:p>
          <a:p>
            <a:pPr>
              <a:buNone/>
            </a:pPr>
            <a:r>
              <a:rPr lang="en-US" sz="2000" dirty="0">
                <a:latin typeface="Bahnschrift" panose="020B0502040204020203" pitchFamily="34" charset="0"/>
              </a:rPr>
              <a:t>• </a:t>
            </a:r>
            <a:r>
              <a:rPr lang="en-US" sz="2000" b="1" dirty="0">
                <a:latin typeface="Bahnschrift" panose="020B0502040204020203" pitchFamily="34" charset="0"/>
              </a:rPr>
              <a:t>An Extra Sense:</a:t>
            </a:r>
            <a:br>
              <a:rPr lang="en-US" sz="2000" dirty="0">
                <a:latin typeface="Bahnschrift" panose="020B0502040204020203" pitchFamily="34" charset="0"/>
              </a:rPr>
            </a:br>
            <a:r>
              <a:rPr lang="en-US" sz="2000" dirty="0">
                <a:latin typeface="Bahnschrift" panose="020B0502040204020203" pitchFamily="34" charset="0"/>
              </a:rPr>
              <a:t>It gives the user an extra, artificial sense that they wouldn’t normally have.</a:t>
            </a:r>
          </a:p>
          <a:p>
            <a:pPr>
              <a:buNone/>
            </a:pPr>
            <a:r>
              <a:rPr lang="en-US" sz="2000" dirty="0">
                <a:latin typeface="Bahnschrift" panose="020B0502040204020203" pitchFamily="34" charset="0"/>
              </a:rPr>
              <a:t>• </a:t>
            </a:r>
            <a:r>
              <a:rPr lang="en-US" sz="2000" b="1" dirty="0">
                <a:latin typeface="Bahnschrift" panose="020B0502040204020203" pitchFamily="34" charset="0"/>
              </a:rPr>
              <a:t>Sees Farther:</a:t>
            </a:r>
            <a:br>
              <a:rPr lang="en-US" sz="2000" dirty="0">
                <a:latin typeface="Bahnschrift" panose="020B0502040204020203" pitchFamily="34" charset="0"/>
              </a:rPr>
            </a:br>
            <a:r>
              <a:rPr lang="en-US" sz="2000" dirty="0">
                <a:latin typeface="Bahnschrift" panose="020B0502040204020203" pitchFamily="34" charset="0"/>
              </a:rPr>
              <a:t>It helps you know about objects that are beyond your reach—things you can’t hear or touch yet.</a:t>
            </a:r>
          </a:p>
          <a:p>
            <a:pPr>
              <a:buNone/>
            </a:pPr>
            <a:r>
              <a:rPr lang="en-US" sz="2000" dirty="0">
                <a:latin typeface="Bahnschrift" panose="020B0502040204020203" pitchFamily="34" charset="0"/>
              </a:rPr>
              <a:t>• </a:t>
            </a:r>
            <a:r>
              <a:rPr lang="en-US" sz="2000" b="1" dirty="0">
                <a:latin typeface="Bahnschrift" panose="020B0502040204020203" pitchFamily="34" charset="0"/>
              </a:rPr>
              <a:t>Real Freedom:</a:t>
            </a:r>
            <a:br>
              <a:rPr lang="en-US" sz="2000" dirty="0">
                <a:latin typeface="Bahnschrift" panose="020B0502040204020203" pitchFamily="34" charset="0"/>
              </a:rPr>
            </a:br>
            <a:r>
              <a:rPr lang="en-US" sz="2000" dirty="0">
                <a:latin typeface="Bahnschrift" panose="020B0502040204020203" pitchFamily="34" charset="0"/>
              </a:rPr>
              <a:t>This ability to “see” beyond your hands is why it’s so important for safe, independent living.</a:t>
            </a:r>
          </a:p>
        </p:txBody>
      </p:sp>
      <p:pic>
        <p:nvPicPr>
          <p:cNvPr id="7" name="WhatsApp Video 2025-12-16 at 10.42.05">
            <a:hlinkClick r:id="" action="ppaction://media"/>
            <a:extLst>
              <a:ext uri="{FF2B5EF4-FFF2-40B4-BE49-F238E27FC236}">
                <a16:creationId xmlns:a16="http://schemas.microsoft.com/office/drawing/2014/main" id="{B45082F5-2D1A-F9BA-AAE6-6D516C591EF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20412" y="2234154"/>
            <a:ext cx="6631943" cy="3730467"/>
          </a:xfrm>
          <a:prstGeom prst="roundRect">
            <a:avLst>
              <a:gd name="adj" fmla="val 5299"/>
            </a:avLst>
          </a:prstGeom>
          <a:ln>
            <a:noFill/>
          </a:ln>
          <a:effectLst/>
          <a:scene3d>
            <a:camera prst="orthographicFront"/>
            <a:lightRig rig="balanced" dir="t"/>
          </a:scene3d>
          <a:sp3d prstMaterial="plastic">
            <a:bevelT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73517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4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A59DF6-E3F4-699A-DE14-BEF9A6BD1368}"/>
              </a:ext>
            </a:extLst>
          </p:cNvPr>
          <p:cNvSpPr txBox="1"/>
          <p:nvPr/>
        </p:nvSpPr>
        <p:spPr>
          <a:xfrm>
            <a:off x="301752" y="537710"/>
            <a:ext cx="78729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Orbitron" pitchFamily="2" charset="0"/>
              </a:rPr>
              <a:t>Real-World Uses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2BBD34-E769-2F15-E4F3-BDA398A021D1}"/>
              </a:ext>
            </a:extLst>
          </p:cNvPr>
          <p:cNvCxnSpPr>
            <a:cxnSpLocks/>
          </p:cNvCxnSpPr>
          <p:nvPr/>
        </p:nvCxnSpPr>
        <p:spPr>
          <a:xfrm>
            <a:off x="301752" y="1289304"/>
            <a:ext cx="1152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41F337B4-2E82-960B-BE7E-1D3814499FAB}"/>
              </a:ext>
            </a:extLst>
          </p:cNvPr>
          <p:cNvGrpSpPr/>
          <p:nvPr/>
        </p:nvGrpSpPr>
        <p:grpSpPr>
          <a:xfrm>
            <a:off x="195072" y="2188461"/>
            <a:ext cx="2843784" cy="2871212"/>
            <a:chOff x="365760" y="1993394"/>
            <a:chExt cx="2843784" cy="287121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10E86E4D-D298-9155-0F18-3A6F4F9C408B}"/>
                </a:ext>
              </a:extLst>
            </p:cNvPr>
            <p:cNvSpPr/>
            <p:nvPr/>
          </p:nvSpPr>
          <p:spPr>
            <a:xfrm>
              <a:off x="365760" y="1993394"/>
              <a:ext cx="2843784" cy="2871212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D7C3CF1-6620-3973-73E1-CDE462545477}"/>
                </a:ext>
              </a:extLst>
            </p:cNvPr>
            <p:cNvSpPr/>
            <p:nvPr/>
          </p:nvSpPr>
          <p:spPr>
            <a:xfrm>
              <a:off x="365760" y="2066544"/>
              <a:ext cx="2843784" cy="2798062"/>
            </a:xfrm>
            <a:prstGeom prst="roundRect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b="1" dirty="0"/>
            </a:p>
            <a:p>
              <a:endParaRPr lang="en-US" b="1" dirty="0"/>
            </a:p>
            <a:p>
              <a:endParaRPr lang="en-US" b="1" dirty="0"/>
            </a:p>
            <a:p>
              <a:pPr algn="ctr"/>
              <a:r>
                <a:rPr lang="en-US" b="1" dirty="0"/>
                <a:t>   Every Single Day</a:t>
              </a:r>
            </a:p>
            <a:p>
              <a:pPr algn="ctr"/>
              <a:r>
                <a:rPr lang="en-US" dirty="0"/>
                <a:t>It’s great for everything—from walking in the hallway at home to crossing a busy sidewalk.</a:t>
              </a:r>
            </a:p>
            <a:p>
              <a:pPr algn="ctr"/>
              <a:endParaRPr lang="en-IN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202FDC5-D72F-EB85-468F-0D58118B6B05}"/>
              </a:ext>
            </a:extLst>
          </p:cNvPr>
          <p:cNvGrpSpPr/>
          <p:nvPr/>
        </p:nvGrpSpPr>
        <p:grpSpPr>
          <a:xfrm>
            <a:off x="3172206" y="2188461"/>
            <a:ext cx="2843784" cy="2871212"/>
            <a:chOff x="365760" y="1993394"/>
            <a:chExt cx="2843784" cy="2871212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DCFA1944-BC6C-9ED0-CE8D-9F0921E4C777}"/>
                </a:ext>
              </a:extLst>
            </p:cNvPr>
            <p:cNvSpPr/>
            <p:nvPr/>
          </p:nvSpPr>
          <p:spPr>
            <a:xfrm>
              <a:off x="365760" y="1993394"/>
              <a:ext cx="2843784" cy="2871212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1919654-3CC2-FF54-6EB4-B4FA555A901C}"/>
                </a:ext>
              </a:extLst>
            </p:cNvPr>
            <p:cNvSpPr/>
            <p:nvPr/>
          </p:nvSpPr>
          <p:spPr>
            <a:xfrm>
              <a:off x="365760" y="2066544"/>
              <a:ext cx="2843784" cy="2798062"/>
            </a:xfrm>
            <a:prstGeom prst="roundRect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b="1" dirty="0"/>
            </a:p>
            <a:p>
              <a:pPr algn="ctr"/>
              <a:endParaRPr lang="en-US" b="1" dirty="0"/>
            </a:p>
            <a:p>
              <a:pPr algn="ctr"/>
              <a:r>
                <a:rPr lang="en-US" b="1" dirty="0"/>
                <a:t>Works Anywhere</a:t>
              </a:r>
            </a:p>
            <a:p>
              <a:pPr algn="ctr"/>
              <a:r>
                <a:rPr lang="en-US" dirty="0"/>
                <a:t>It keeps you safe in different places, both inside buildings and outside on the street.</a:t>
              </a:r>
            </a:p>
            <a:p>
              <a:pPr algn="ctr"/>
              <a:endParaRPr lang="en-IN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70B3FF-A88D-8B67-AE82-2A1A32665B79}"/>
              </a:ext>
            </a:extLst>
          </p:cNvPr>
          <p:cNvGrpSpPr/>
          <p:nvPr/>
        </p:nvGrpSpPr>
        <p:grpSpPr>
          <a:xfrm>
            <a:off x="9153144" y="2188461"/>
            <a:ext cx="2843784" cy="2871212"/>
            <a:chOff x="365760" y="1993394"/>
            <a:chExt cx="2843784" cy="287121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A0E0B5C6-9C5E-BE29-E4ED-C7E8DC7B15D1}"/>
                </a:ext>
              </a:extLst>
            </p:cNvPr>
            <p:cNvSpPr/>
            <p:nvPr/>
          </p:nvSpPr>
          <p:spPr>
            <a:xfrm>
              <a:off x="365760" y="1993394"/>
              <a:ext cx="2843784" cy="2871212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171F0846-26BF-701F-EF39-0BE62C674FA4}"/>
                </a:ext>
              </a:extLst>
            </p:cNvPr>
            <p:cNvSpPr/>
            <p:nvPr/>
          </p:nvSpPr>
          <p:spPr>
            <a:xfrm>
              <a:off x="365760" y="2066544"/>
              <a:ext cx="2843784" cy="2798062"/>
            </a:xfrm>
            <a:prstGeom prst="roundRect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b="1" dirty="0"/>
            </a:p>
            <a:p>
              <a:endParaRPr lang="en-US" b="1" dirty="0"/>
            </a:p>
            <a:p>
              <a:endParaRPr lang="en-US" b="1" dirty="0"/>
            </a:p>
            <a:p>
              <a:pPr algn="just"/>
              <a:r>
                <a:rPr lang="en-US" b="1" dirty="0"/>
                <a:t>             Self-Esteem</a:t>
              </a:r>
            </a:p>
            <a:p>
              <a:pPr algn="ctr"/>
              <a:r>
                <a:rPr lang="en-US" dirty="0"/>
                <a:t>It directly helps people feel better about themselves and their ability to be autonomous.</a:t>
              </a:r>
            </a:p>
            <a:p>
              <a:pPr algn="ctr"/>
              <a:endParaRPr lang="en-IN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0543320-D3D6-F3EC-500C-E79AC12986D5}"/>
              </a:ext>
            </a:extLst>
          </p:cNvPr>
          <p:cNvGrpSpPr/>
          <p:nvPr/>
        </p:nvGrpSpPr>
        <p:grpSpPr>
          <a:xfrm>
            <a:off x="6149340" y="2188461"/>
            <a:ext cx="2843784" cy="2871212"/>
            <a:chOff x="365760" y="1993394"/>
            <a:chExt cx="2843784" cy="2871212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8BA90044-A60F-3C69-319F-6256BEBF292C}"/>
                </a:ext>
              </a:extLst>
            </p:cNvPr>
            <p:cNvSpPr/>
            <p:nvPr/>
          </p:nvSpPr>
          <p:spPr>
            <a:xfrm>
              <a:off x="365760" y="1993394"/>
              <a:ext cx="2843784" cy="2871212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DAF4DD9A-D3A5-FF0A-137E-5FD5823F0C1A}"/>
                </a:ext>
              </a:extLst>
            </p:cNvPr>
            <p:cNvSpPr/>
            <p:nvPr/>
          </p:nvSpPr>
          <p:spPr>
            <a:xfrm>
              <a:off x="365760" y="2066544"/>
              <a:ext cx="2843784" cy="2798062"/>
            </a:xfrm>
            <a:prstGeom prst="roundRect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b="1" dirty="0"/>
            </a:p>
            <a:p>
              <a:endParaRPr lang="en-US" b="1" dirty="0"/>
            </a:p>
            <a:p>
              <a:r>
                <a:rPr lang="en-US" b="1" dirty="0"/>
                <a:t>      Less Help Needed</a:t>
              </a:r>
            </a:p>
            <a:p>
              <a:pPr algn="ctr"/>
              <a:r>
                <a:rPr lang="en-US" dirty="0"/>
                <a:t>It really reduces how much the user needs to rely on other people for directions.</a:t>
              </a:r>
            </a:p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0784625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FF2B08-8C55-3589-A56A-7B2DF043A6A8}"/>
              </a:ext>
            </a:extLst>
          </p:cNvPr>
          <p:cNvSpPr txBox="1"/>
          <p:nvPr/>
        </p:nvSpPr>
        <p:spPr>
          <a:xfrm>
            <a:off x="301752" y="537710"/>
            <a:ext cx="78729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Orbitron" pitchFamily="2" charset="0"/>
              </a:rPr>
              <a:t>Focus: Getting Around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CCB623-3C2C-CB8F-FA60-DB78B20B6306}"/>
              </a:ext>
            </a:extLst>
          </p:cNvPr>
          <p:cNvCxnSpPr>
            <a:cxnSpLocks/>
          </p:cNvCxnSpPr>
          <p:nvPr/>
        </p:nvCxnSpPr>
        <p:spPr>
          <a:xfrm>
            <a:off x="301752" y="1289304"/>
            <a:ext cx="1152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AFA137A-6390-4C3B-DA4F-85F90C0CBCED}"/>
              </a:ext>
            </a:extLst>
          </p:cNvPr>
          <p:cNvSpPr txBox="1"/>
          <p:nvPr/>
        </p:nvSpPr>
        <p:spPr>
          <a:xfrm>
            <a:off x="301752" y="1499615"/>
            <a:ext cx="566028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Bahnschrift" panose="020B0502040204020203" pitchFamily="34" charset="0"/>
              </a:rPr>
              <a:t>Instant Response</a:t>
            </a:r>
          </a:p>
          <a:p>
            <a:pPr>
              <a:buNone/>
            </a:pPr>
            <a:r>
              <a:rPr lang="en-US" sz="2400" dirty="0">
                <a:latin typeface="Bahnschrift" panose="020B0502040204020203" pitchFamily="34" charset="0"/>
              </a:rPr>
              <a:t>It finds and signals obstacles instantly—no waiting time at all.</a:t>
            </a:r>
          </a:p>
          <a:p>
            <a:pPr>
              <a:buNone/>
            </a:pPr>
            <a:r>
              <a:rPr lang="en-US" sz="2400" b="1" dirty="0">
                <a:latin typeface="Bahnschrift" panose="020B0502040204020203" pitchFamily="34" charset="0"/>
              </a:rPr>
              <a:t>Buzzing Maps</a:t>
            </a:r>
          </a:p>
          <a:p>
            <a:pPr>
              <a:buNone/>
            </a:pPr>
            <a:r>
              <a:rPr lang="en-US" sz="2400" dirty="0">
                <a:latin typeface="Bahnschrift" panose="020B0502040204020203" pitchFamily="34" charset="0"/>
              </a:rPr>
              <a:t>It tells you distance using patterns you can easily learn and remember.</a:t>
            </a:r>
          </a:p>
          <a:p>
            <a:pPr>
              <a:buNone/>
            </a:pPr>
            <a:r>
              <a:rPr lang="en-US" sz="2400" b="1" dirty="0">
                <a:latin typeface="Bahnschrift" panose="020B0502040204020203" pitchFamily="34" charset="0"/>
              </a:rPr>
              <a:t>Crowd Handler</a:t>
            </a:r>
          </a:p>
          <a:p>
            <a:pPr>
              <a:buNone/>
            </a:pPr>
            <a:r>
              <a:rPr lang="en-US" sz="2400" dirty="0">
                <a:latin typeface="Bahnschrift" panose="020B0502040204020203" pitchFamily="34" charset="0"/>
              </a:rPr>
              <a:t>It helps users move confidently even in crowded or tricky places like narrow doorways.</a:t>
            </a:r>
          </a:p>
          <a:p>
            <a:pPr>
              <a:buNone/>
            </a:pPr>
            <a:r>
              <a:rPr lang="en-US" sz="2400" b="1" dirty="0">
                <a:latin typeface="Bahnschrift" panose="020B0502040204020203" pitchFamily="34" charset="0"/>
              </a:rPr>
              <a:t>The Main Goal</a:t>
            </a:r>
          </a:p>
          <a:p>
            <a:pPr>
              <a:buNone/>
            </a:pPr>
            <a:r>
              <a:rPr lang="en-US" sz="2400" dirty="0">
                <a:latin typeface="Bahnschrift" panose="020B0502040204020203" pitchFamily="34" charset="0"/>
              </a:rPr>
              <a:t>Designed to help people move and travel completely on their own.</a:t>
            </a:r>
          </a:p>
        </p:txBody>
      </p:sp>
      <p:pic>
        <p:nvPicPr>
          <p:cNvPr id="8" name="WhatsApp Video 2025-12-16 at 10.42.05 (1)">
            <a:hlinkClick r:id="" action="ppaction://media"/>
            <a:extLst>
              <a:ext uri="{FF2B5EF4-FFF2-40B4-BE49-F238E27FC236}">
                <a16:creationId xmlns:a16="http://schemas.microsoft.com/office/drawing/2014/main" id="{5CEE111C-D023-C881-4ADE-4BF7CB2827D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962041" y="1791093"/>
            <a:ext cx="6047592" cy="377760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4104524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42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52CFAB-1D9D-82F3-FB52-9A5A4058807F}"/>
              </a:ext>
            </a:extLst>
          </p:cNvPr>
          <p:cNvSpPr txBox="1"/>
          <p:nvPr/>
        </p:nvSpPr>
        <p:spPr>
          <a:xfrm>
            <a:off x="301752" y="537710"/>
            <a:ext cx="78729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Orbitron" pitchFamily="2" charset="0"/>
              </a:rPr>
              <a:t>What's Inside? The Parts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661F27E-4E32-5204-4DC9-A3BED871F9DB}"/>
              </a:ext>
            </a:extLst>
          </p:cNvPr>
          <p:cNvCxnSpPr>
            <a:cxnSpLocks/>
          </p:cNvCxnSpPr>
          <p:nvPr/>
        </p:nvCxnSpPr>
        <p:spPr>
          <a:xfrm>
            <a:off x="301752" y="1289304"/>
            <a:ext cx="1152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D93B831-CAE5-8505-2242-B8B1ABD5A8C5}"/>
              </a:ext>
            </a:extLst>
          </p:cNvPr>
          <p:cNvSpPr txBox="1"/>
          <p:nvPr/>
        </p:nvSpPr>
        <p:spPr>
          <a:xfrm>
            <a:off x="301752" y="1394568"/>
            <a:ext cx="693577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Bahnschrift" panose="020B0502040204020203" pitchFamily="34" charset="0"/>
              </a:rPr>
              <a:t>The Brain (Arduino): </a:t>
            </a:r>
            <a:r>
              <a:rPr lang="en-IN" sz="2800" dirty="0">
                <a:latin typeface="Bahnschrift" panose="020B0502040204020203" pitchFamily="34" charset="0"/>
              </a:rPr>
              <a:t>This little computer chip takes all the data and makes all the decisions.</a:t>
            </a:r>
          </a:p>
          <a:p>
            <a:r>
              <a:rPr lang="en-IN" sz="2800" b="1" dirty="0">
                <a:latin typeface="Bahnschrift" panose="020B0502040204020203" pitchFamily="34" charset="0"/>
              </a:rPr>
              <a:t>The Eyes (Ultrasonic Sensor): </a:t>
            </a:r>
            <a:r>
              <a:rPr lang="en-IN" sz="2800" dirty="0">
                <a:latin typeface="Bahnschrift" panose="020B0502040204020203" pitchFamily="34" charset="0"/>
              </a:rPr>
              <a:t>It's the part that sends out sound waves to 'see' obstacles.</a:t>
            </a:r>
          </a:p>
          <a:p>
            <a:r>
              <a:rPr lang="en-IN" sz="2800" b="1" dirty="0">
                <a:latin typeface="Bahnschrift" panose="020B0502040204020203" pitchFamily="34" charset="0"/>
              </a:rPr>
              <a:t>The Sense (Buzzer): </a:t>
            </a:r>
            <a:r>
              <a:rPr lang="en-IN" sz="2800" dirty="0">
                <a:latin typeface="Bahnschrift" panose="020B0502040204020203" pitchFamily="34" charset="0"/>
              </a:rPr>
              <a:t>The buzzer is what buzzes to let the user know if they need to stop.</a:t>
            </a:r>
          </a:p>
          <a:p>
            <a:r>
              <a:rPr lang="en-IN" sz="2800" b="1" dirty="0">
                <a:latin typeface="Bahnschrift" panose="020B0502040204020203" pitchFamily="34" charset="0"/>
              </a:rPr>
              <a:t>The Power (Battery): </a:t>
            </a:r>
            <a:r>
              <a:rPr lang="en-IN" sz="2800" dirty="0">
                <a:latin typeface="Bahnschrift" panose="020B0502040204020203" pitchFamily="34" charset="0"/>
              </a:rPr>
              <a:t>A small battery that makes sure the glove keeps running wirelessly.</a:t>
            </a:r>
          </a:p>
        </p:txBody>
      </p:sp>
    </p:spTree>
    <p:extLst>
      <p:ext uri="{BB962C8B-B14F-4D97-AF65-F5344CB8AC3E}">
        <p14:creationId xmlns:p14="http://schemas.microsoft.com/office/powerpoint/2010/main" val="2882623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227837-14F3-34E2-DE72-91E130220967}"/>
              </a:ext>
            </a:extLst>
          </p:cNvPr>
          <p:cNvSpPr txBox="1"/>
          <p:nvPr/>
        </p:nvSpPr>
        <p:spPr>
          <a:xfrm>
            <a:off x="301752" y="537710"/>
            <a:ext cx="78729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Orbitron" pitchFamily="2" charset="0"/>
              </a:rPr>
              <a:t>How They Talk (The Circuit)</a:t>
            </a:r>
            <a:endParaRPr lang="en-IN" sz="3600" b="1" dirty="0">
              <a:latin typeface="Orbitron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12526C8-78FA-11E9-C80C-47D0A43B13EF}"/>
              </a:ext>
            </a:extLst>
          </p:cNvPr>
          <p:cNvCxnSpPr>
            <a:cxnSpLocks/>
          </p:cNvCxnSpPr>
          <p:nvPr/>
        </p:nvCxnSpPr>
        <p:spPr>
          <a:xfrm>
            <a:off x="301752" y="1289304"/>
            <a:ext cx="1152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3A90257-D5BB-0B9E-0CE7-B119D5B092B3}"/>
              </a:ext>
            </a:extLst>
          </p:cNvPr>
          <p:cNvSpPr txBox="1"/>
          <p:nvPr/>
        </p:nvSpPr>
        <p:spPr>
          <a:xfrm>
            <a:off x="301751" y="1443840"/>
            <a:ext cx="681548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Bahnschrift" panose="020B0502040204020203" pitchFamily="34" charset="0"/>
              </a:rPr>
              <a:t>Simple Chat: </a:t>
            </a:r>
            <a:r>
              <a:rPr lang="en-IN" sz="2800" dirty="0">
                <a:latin typeface="Bahnschrift" panose="020B0502040204020203" pitchFamily="34" charset="0"/>
              </a:rPr>
              <a:t>The sensor constantly tells the Arduino board how far away objects are.</a:t>
            </a:r>
          </a:p>
          <a:p>
            <a:endParaRPr lang="en-IN" sz="2800" dirty="0">
              <a:latin typeface="Bahnschrift" panose="020B0502040204020203" pitchFamily="34" charset="0"/>
            </a:endParaRPr>
          </a:p>
          <a:p>
            <a:r>
              <a:rPr lang="en-IN" sz="2800" b="1" dirty="0">
                <a:latin typeface="Bahnschrift" panose="020B0502040204020203" pitchFamily="34" charset="0"/>
              </a:rPr>
              <a:t>Decision Time: </a:t>
            </a:r>
            <a:r>
              <a:rPr lang="en-IN" sz="2800" dirty="0">
                <a:latin typeface="Bahnschrift" panose="020B0502040204020203" pitchFamily="34" charset="0"/>
              </a:rPr>
              <a:t>If the object is too close (uh oh, danger!), the Arduino sends a signal to start the motor.</a:t>
            </a:r>
          </a:p>
          <a:p>
            <a:endParaRPr lang="en-IN" sz="2800" dirty="0">
              <a:latin typeface="Bahnschrift" panose="020B0502040204020203" pitchFamily="34" charset="0"/>
            </a:endParaRPr>
          </a:p>
          <a:p>
            <a:r>
              <a:rPr lang="en-IN" sz="2800" b="1" dirty="0">
                <a:latin typeface="Bahnschrift" panose="020B0502040204020203" pitchFamily="34" charset="0"/>
              </a:rPr>
              <a:t>Smart Pins: </a:t>
            </a:r>
            <a:r>
              <a:rPr lang="en-IN" sz="2800" dirty="0">
                <a:latin typeface="Bahnschrift" panose="020B0502040204020203" pitchFamily="34" charset="0"/>
              </a:rPr>
              <a:t>One pin sends the signal out ("Trigger"), and the other listens for the sound to bounce back ("Echo")</a:t>
            </a:r>
          </a:p>
        </p:txBody>
      </p:sp>
    </p:spTree>
    <p:extLst>
      <p:ext uri="{BB962C8B-B14F-4D97-AF65-F5344CB8AC3E}">
        <p14:creationId xmlns:p14="http://schemas.microsoft.com/office/powerpoint/2010/main" val="8471589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8190EB-C2A1-3335-8E02-F33B6249CB64}"/>
              </a:ext>
            </a:extLst>
          </p:cNvPr>
          <p:cNvSpPr txBox="1"/>
          <p:nvPr/>
        </p:nvSpPr>
        <p:spPr>
          <a:xfrm>
            <a:off x="301752" y="537710"/>
            <a:ext cx="78729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Orbitron" pitchFamily="2" charset="0"/>
              </a:rPr>
              <a:t>Wrapping Up</a:t>
            </a:r>
            <a:endParaRPr lang="en-IN" sz="3600" b="1" dirty="0">
              <a:latin typeface="Orbitron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2732783-98C2-1869-8CBC-72776FEBE6FB}"/>
              </a:ext>
            </a:extLst>
          </p:cNvPr>
          <p:cNvCxnSpPr>
            <a:cxnSpLocks/>
          </p:cNvCxnSpPr>
          <p:nvPr/>
        </p:nvCxnSpPr>
        <p:spPr>
          <a:xfrm>
            <a:off x="301752" y="1289304"/>
            <a:ext cx="1152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8073244-7554-4A15-E1D5-BAF8DF56A718}"/>
              </a:ext>
            </a:extLst>
          </p:cNvPr>
          <p:cNvGrpSpPr/>
          <p:nvPr/>
        </p:nvGrpSpPr>
        <p:grpSpPr>
          <a:xfrm>
            <a:off x="402336" y="1572759"/>
            <a:ext cx="5468112" cy="2359143"/>
            <a:chOff x="557784" y="1856232"/>
            <a:chExt cx="5202936" cy="2130552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5186FAFC-3D7C-F4F9-E50D-1CB49E871147}"/>
                </a:ext>
              </a:extLst>
            </p:cNvPr>
            <p:cNvSpPr>
              <a:spLocks/>
            </p:cNvSpPr>
            <p:nvPr/>
          </p:nvSpPr>
          <p:spPr>
            <a:xfrm>
              <a:off x="557784" y="1856232"/>
              <a:ext cx="5202936" cy="2130552"/>
            </a:xfrm>
            <a:prstGeom prst="roundRect">
              <a:avLst/>
            </a:prstGeom>
            <a:solidFill>
              <a:srgbClr val="00FFD1"/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2"/>
                </a:solidFill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8FAF051D-ABF9-6F3D-656E-CF2D1CC8E4F3}"/>
                </a:ext>
              </a:extLst>
            </p:cNvPr>
            <p:cNvSpPr/>
            <p:nvPr/>
          </p:nvSpPr>
          <p:spPr>
            <a:xfrm>
              <a:off x="637032" y="1856232"/>
              <a:ext cx="5123688" cy="2130552"/>
            </a:xfrm>
            <a:prstGeom prst="round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b="1" dirty="0"/>
            </a:p>
            <a:p>
              <a:r>
                <a:rPr lang="en-US" b="1" dirty="0"/>
                <a:t>Freedom is Key</a:t>
              </a:r>
            </a:p>
            <a:p>
              <a:endParaRPr lang="en-US" b="1" dirty="0"/>
            </a:p>
            <a:p>
              <a:r>
                <a:rPr lang="en-US" dirty="0"/>
                <a:t>This glove isn't just tech; it's about giving people dignity and freedom to explore.</a:t>
              </a:r>
            </a:p>
            <a:p>
              <a:pPr algn="ctr"/>
              <a:endParaRPr lang="en-IN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6922070-4D82-2BBE-BA9F-B3BC6F07DA98}"/>
              </a:ext>
            </a:extLst>
          </p:cNvPr>
          <p:cNvGrpSpPr/>
          <p:nvPr/>
        </p:nvGrpSpPr>
        <p:grpSpPr>
          <a:xfrm>
            <a:off x="6355080" y="4215358"/>
            <a:ext cx="5468112" cy="2359143"/>
            <a:chOff x="557784" y="1856232"/>
            <a:chExt cx="5202936" cy="2130552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D7EAD139-B2E3-7A38-EADB-5F2F967A7F7F}"/>
                </a:ext>
              </a:extLst>
            </p:cNvPr>
            <p:cNvSpPr>
              <a:spLocks/>
            </p:cNvSpPr>
            <p:nvPr/>
          </p:nvSpPr>
          <p:spPr>
            <a:xfrm>
              <a:off x="557784" y="1856232"/>
              <a:ext cx="5202936" cy="2130552"/>
            </a:xfrm>
            <a:prstGeom prst="roundRect">
              <a:avLst/>
            </a:prstGeom>
            <a:solidFill>
              <a:srgbClr val="00FFD1"/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2"/>
                </a:solidFill>
              </a:endParaRP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EB5F5AC0-2CDD-8BF6-8F32-BAE769BE7FAF}"/>
                </a:ext>
              </a:extLst>
            </p:cNvPr>
            <p:cNvSpPr/>
            <p:nvPr/>
          </p:nvSpPr>
          <p:spPr>
            <a:xfrm>
              <a:off x="637032" y="1856232"/>
              <a:ext cx="5123688" cy="2130552"/>
            </a:xfrm>
            <a:prstGeom prst="round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b="1" dirty="0"/>
            </a:p>
            <a:p>
              <a:r>
                <a:rPr lang="en-US" b="1" dirty="0"/>
                <a:t>My Dream</a:t>
              </a:r>
            </a:p>
            <a:p>
              <a:endParaRPr lang="en-US" b="1" dirty="0"/>
            </a:p>
            <a:p>
              <a:r>
                <a:rPr lang="en-US" dirty="0"/>
                <a:t>To help create a world where not being able to see doesn't stop anyone from doing what they want!</a:t>
              </a:r>
            </a:p>
            <a:p>
              <a:pPr algn="ctr"/>
              <a:endParaRPr lang="en-IN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C3D4FE-B2B6-4ABA-CEB9-116A4ABC9998}"/>
              </a:ext>
            </a:extLst>
          </p:cNvPr>
          <p:cNvGrpSpPr/>
          <p:nvPr/>
        </p:nvGrpSpPr>
        <p:grpSpPr>
          <a:xfrm>
            <a:off x="402336" y="4215358"/>
            <a:ext cx="5468112" cy="2359143"/>
            <a:chOff x="557784" y="1856232"/>
            <a:chExt cx="5202936" cy="2130552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FB0C5984-C7F0-210C-C5E5-CCCCD49229AC}"/>
                </a:ext>
              </a:extLst>
            </p:cNvPr>
            <p:cNvSpPr>
              <a:spLocks/>
            </p:cNvSpPr>
            <p:nvPr/>
          </p:nvSpPr>
          <p:spPr>
            <a:xfrm>
              <a:off x="557784" y="1856232"/>
              <a:ext cx="5202936" cy="2130552"/>
            </a:xfrm>
            <a:prstGeom prst="roundRect">
              <a:avLst/>
            </a:prstGeom>
            <a:solidFill>
              <a:srgbClr val="00FFD1"/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2"/>
                </a:solidFill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64456949-3FAF-71AA-B47F-C45C4F4036D7}"/>
                </a:ext>
              </a:extLst>
            </p:cNvPr>
            <p:cNvSpPr/>
            <p:nvPr/>
          </p:nvSpPr>
          <p:spPr>
            <a:xfrm>
              <a:off x="637032" y="1856232"/>
              <a:ext cx="5123688" cy="2130552"/>
            </a:xfrm>
            <a:prstGeom prst="round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b="1" dirty="0"/>
            </a:p>
            <a:p>
              <a:r>
                <a:rPr lang="en-US" b="1" dirty="0"/>
                <a:t>New Way to Sense</a:t>
              </a:r>
            </a:p>
            <a:p>
              <a:endParaRPr lang="en-US" b="1" dirty="0"/>
            </a:p>
            <a:p>
              <a:r>
                <a:rPr lang="en-US" dirty="0"/>
                <a:t>We're fixing the missing sense of sight by boosting the sense of touch.</a:t>
              </a:r>
            </a:p>
            <a:p>
              <a:pPr algn="ctr"/>
              <a:endParaRPr lang="en-IN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3D25FA0-C1FF-7A36-855A-0AE3682B4BD5}"/>
              </a:ext>
            </a:extLst>
          </p:cNvPr>
          <p:cNvGrpSpPr/>
          <p:nvPr/>
        </p:nvGrpSpPr>
        <p:grpSpPr>
          <a:xfrm>
            <a:off x="6375425" y="1572760"/>
            <a:ext cx="5468112" cy="2359143"/>
            <a:chOff x="557784" y="1856232"/>
            <a:chExt cx="5202936" cy="2130552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6D698DC3-1FE5-04BD-4923-586A503BBF55}"/>
                </a:ext>
              </a:extLst>
            </p:cNvPr>
            <p:cNvSpPr>
              <a:spLocks/>
            </p:cNvSpPr>
            <p:nvPr/>
          </p:nvSpPr>
          <p:spPr>
            <a:xfrm>
              <a:off x="557784" y="1856232"/>
              <a:ext cx="5202936" cy="2130552"/>
            </a:xfrm>
            <a:prstGeom prst="roundRect">
              <a:avLst/>
            </a:prstGeom>
            <a:solidFill>
              <a:srgbClr val="00FFD1"/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2"/>
                </a:solidFill>
              </a:endParaRP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9FB29579-F777-B598-60E0-D829057593F7}"/>
                </a:ext>
              </a:extLst>
            </p:cNvPr>
            <p:cNvSpPr/>
            <p:nvPr/>
          </p:nvSpPr>
          <p:spPr>
            <a:xfrm>
              <a:off x="637032" y="1856232"/>
              <a:ext cx="5123688" cy="2130552"/>
            </a:xfrm>
            <a:prstGeom prst="round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b="1" dirty="0"/>
            </a:p>
            <a:p>
              <a:r>
                <a:rPr lang="en-US" b="1" dirty="0"/>
                <a:t>Simple and Cheap</a:t>
              </a:r>
            </a:p>
            <a:p>
              <a:endParaRPr lang="en-US" b="1" dirty="0"/>
            </a:p>
            <a:p>
              <a:r>
                <a:rPr lang="en-US" dirty="0"/>
                <a:t>By keeping the technology basic, we can make it affordable and available to everyone who needs it.</a:t>
              </a:r>
            </a:p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7840955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6C70DC-E44D-2449-E5F5-7148ADD8D93A}"/>
              </a:ext>
            </a:extLst>
          </p:cNvPr>
          <p:cNvSpPr txBox="1"/>
          <p:nvPr/>
        </p:nvSpPr>
        <p:spPr>
          <a:xfrm>
            <a:off x="301752" y="537710"/>
            <a:ext cx="78729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Orbitron" pitchFamily="2" charset="0"/>
              </a:rPr>
              <a:t>Conclusion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971A01-1A42-D6C2-C28A-B9FB56BBFC4B}"/>
              </a:ext>
            </a:extLst>
          </p:cNvPr>
          <p:cNvCxnSpPr>
            <a:cxnSpLocks/>
          </p:cNvCxnSpPr>
          <p:nvPr/>
        </p:nvCxnSpPr>
        <p:spPr>
          <a:xfrm>
            <a:off x="301752" y="1289304"/>
            <a:ext cx="1152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3E6089EA-29D6-2DD4-56DE-B8283EFF7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52" y="1675606"/>
            <a:ext cx="819302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The Third Eye Glove is an effective assistive device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Provides safety and independence to visually impaired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Simple, affordable, and reliable solution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Demonstrates practical application of Arduino and sensors</a:t>
            </a:r>
          </a:p>
        </p:txBody>
      </p:sp>
    </p:spTree>
    <p:extLst>
      <p:ext uri="{BB962C8B-B14F-4D97-AF65-F5344CB8AC3E}">
        <p14:creationId xmlns:p14="http://schemas.microsoft.com/office/powerpoint/2010/main" val="3001730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C2D624-4295-1913-79FB-243BE0EA37D1}"/>
              </a:ext>
            </a:extLst>
          </p:cNvPr>
          <p:cNvSpPr txBox="1"/>
          <p:nvPr/>
        </p:nvSpPr>
        <p:spPr>
          <a:xfrm>
            <a:off x="4144652" y="2721114"/>
            <a:ext cx="3902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Orbitron" pitchFamily="2" charset="0"/>
              </a:rPr>
              <a:t>THANK YOU</a:t>
            </a:r>
            <a:endParaRPr lang="en-IN" sz="4000" b="1" dirty="0">
              <a:latin typeface="Orbitro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672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1291</Words>
  <Application>Microsoft Office PowerPoint</Application>
  <PresentationFormat>Widescreen</PresentationFormat>
  <Paragraphs>221</Paragraphs>
  <Slides>24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Bahnschrift</vt:lpstr>
      <vt:lpstr>Orbitron</vt:lpstr>
      <vt:lpstr>Office Theme</vt:lpstr>
      <vt:lpstr>THE THIRD EYE GLOVE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KUMAR</dc:creator>
  <cp:lastModifiedBy>AMIT KUMAR</cp:lastModifiedBy>
  <cp:revision>3</cp:revision>
  <dcterms:created xsi:type="dcterms:W3CDTF">2025-12-16T04:16:41Z</dcterms:created>
  <dcterms:modified xsi:type="dcterms:W3CDTF">2025-12-16T07:09:53Z</dcterms:modified>
</cp:coreProperties>
</file>